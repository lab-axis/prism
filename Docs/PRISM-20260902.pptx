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408" r:id="rId3"/>
    <p:sldId id="406" r:id="rId4"/>
    <p:sldId id="407" r:id="rId5"/>
    <p:sldId id="274" r:id="rId6"/>
    <p:sldId id="404" r:id="rId7"/>
    <p:sldId id="409" r:id="rId8"/>
    <p:sldId id="410" r:id="rId9"/>
    <p:sldId id="403" r:id="rId10"/>
    <p:sldId id="271" r:id="rId11"/>
    <p:sldId id="27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3C6"/>
    <a:srgbClr val="FFFFFF"/>
    <a:srgbClr val="373545"/>
    <a:srgbClr val="339933"/>
    <a:srgbClr val="84C674"/>
    <a:srgbClr val="88D888"/>
    <a:srgbClr val="FFCCCC"/>
    <a:srgbClr val="C39BE1"/>
    <a:srgbClr val="FFC000"/>
    <a:srgbClr val="A2C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DB026-1EDB-4444-B9B3-F1BC49F2FB46}" v="451" dt="2026-08-17T18:57:06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89" autoAdjust="0"/>
  </p:normalViewPr>
  <p:slideViewPr>
    <p:cSldViewPr snapToGrid="0">
      <p:cViewPr varScale="1">
        <p:scale>
          <a:sx n="86" d="100"/>
          <a:sy n="86" d="100"/>
        </p:scale>
        <p:origin x="10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1:59:48.2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1:59:51.0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ED97E-A12B-4490-93EE-9431A02F2724}" type="datetimeFigureOut">
              <a:rPr lang="ko-KR" altLang="en-US" smtClean="0"/>
              <a:t>2026-10-12 (Mon)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1219D-7F71-47B2-9D40-5A6B84D6F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63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70B335-5EFC-48DB-A3F5-7A74264EE478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802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1219D-7F71-47B2-9D40-5A6B84D6F64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231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1219D-7F71-47B2-9D40-5A6B84D6F64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48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1219D-7F71-47B2-9D40-5A6B84D6F64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956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1219D-7F71-47B2-9D40-5A6B84D6F64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00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1219D-7F71-47B2-9D40-5A6B84D6F64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09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A0BE05-A969-402E-AB9C-19308AB6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69189" cy="6858000"/>
          </a:xfrm>
          <a:prstGeom prst="rect">
            <a:avLst/>
          </a:prstGeom>
          <a:solidFill>
            <a:srgbClr val="243144"/>
          </a:solidFill>
          <a:ln>
            <a:solidFill>
              <a:srgbClr val="2431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588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7C19BC3A-2B08-4128-BB08-AC0515AFDF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785" y="2240043"/>
            <a:ext cx="7240174" cy="1388261"/>
          </a:xfrm>
        </p:spPr>
        <p:txBody>
          <a:bodyPr rtlCol="0">
            <a:noAutofit/>
          </a:bodyPr>
          <a:lstStyle>
            <a:lvl1pPr>
              <a:defRPr lang="en-US" sz="3600" b="1" kern="1200" dirty="0">
                <a:solidFill>
                  <a:srgbClr val="A1B9D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rtl="0"/>
            <a:r>
              <a:rPr lang="ko-KR" altLang="en-US" noProof="0"/>
              <a:t>제목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9676FE37-9B4F-46F3-A9E8-67F8B2BE22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789" y="938293"/>
            <a:ext cx="7240169" cy="596113"/>
          </a:xfrm>
        </p:spPr>
        <p:txBody>
          <a:bodyPr rtlCol="0">
            <a:normAutofit/>
          </a:bodyPr>
          <a:lstStyle>
            <a:lvl1pPr marL="0" indent="0">
              <a:buNone/>
              <a:defRPr sz="1600" b="1">
                <a:solidFill>
                  <a:srgbClr val="A1B9D6"/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pPr lvl="0" rtl="0"/>
            <a:r>
              <a:rPr lang="ko-KR" altLang="en-US" noProof="0"/>
              <a:t>문서 유형</a:t>
            </a:r>
          </a:p>
        </p:txBody>
      </p:sp>
      <p:sp>
        <p:nvSpPr>
          <p:cNvPr id="15" name="텍스트 개체 틀 12">
            <a:extLst>
              <a:ext uri="{FF2B5EF4-FFF2-40B4-BE49-F238E27FC236}">
                <a16:creationId xmlns:a16="http://schemas.microsoft.com/office/drawing/2014/main" id="{33F2CC25-1459-4300-B21B-45223B9F22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789" y="1882588"/>
            <a:ext cx="5041676" cy="321769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abon Next LT" panose="02000500000000000000" pitchFamily="2" charset="0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</a:p>
        </p:txBody>
      </p:sp>
      <p:sp>
        <p:nvSpPr>
          <p:cNvPr id="16" name="텍스트 개체 틀 12">
            <a:extLst>
              <a:ext uri="{FF2B5EF4-FFF2-40B4-BE49-F238E27FC236}">
                <a16:creationId xmlns:a16="http://schemas.microsoft.com/office/drawing/2014/main" id="{47556F87-28A1-46ED-A582-D02EB23E80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787" y="3609094"/>
            <a:ext cx="7240174" cy="92448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abon Next LT" panose="02000500000000000000" pitchFamily="2" charset="0"/>
              </a:defRPr>
            </a:lvl1pPr>
          </a:lstStyle>
          <a:p>
            <a:pPr lvl="0" rtl="0"/>
            <a:r>
              <a:rPr lang="ko-KR" altLang="en-US" noProof="0"/>
              <a:t>부제목</a:t>
            </a: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18CEA0AE-D6C7-4812-BD6A-004B9A62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3351" y="5705395"/>
            <a:ext cx="2441039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12">
            <a:extLst>
              <a:ext uri="{FF2B5EF4-FFF2-40B4-BE49-F238E27FC236}">
                <a16:creationId xmlns:a16="http://schemas.microsoft.com/office/drawing/2014/main" id="{F90262EC-A22E-4261-9718-D2E1A6F97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787" y="5804956"/>
            <a:ext cx="2546602" cy="280949"/>
          </a:xfrm>
        </p:spPr>
        <p:txBody>
          <a:bodyPr rtlCol="0">
            <a:normAutofit/>
          </a:bodyPr>
          <a:lstStyle>
            <a:lvl1pPr marL="0" indent="0">
              <a:buNone/>
              <a:defRPr sz="1235" b="0">
                <a:solidFill>
                  <a:schemeClr val="tx2">
                    <a:lumMod val="40000"/>
                    <a:lumOff val="6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abon Next LT" panose="02000500000000000000" pitchFamily="2" charset="0"/>
              </a:defRPr>
            </a:lvl1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sp>
        <p:nvSpPr>
          <p:cNvPr id="25" name="텍스트 개체 틀 12">
            <a:extLst>
              <a:ext uri="{FF2B5EF4-FFF2-40B4-BE49-F238E27FC236}">
                <a16:creationId xmlns:a16="http://schemas.microsoft.com/office/drawing/2014/main" id="{E0C4E03D-A663-4212-B87A-5D812C60C7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5375" y="5378012"/>
            <a:ext cx="2546602" cy="280949"/>
          </a:xfrm>
          <a:ln>
            <a:noFill/>
          </a:ln>
        </p:spPr>
        <p:txBody>
          <a:bodyPr rtlCol="0">
            <a:normAutofit/>
          </a:bodyPr>
          <a:lstStyle>
            <a:lvl1pPr marL="0" indent="0" algn="l">
              <a:buNone/>
              <a:defRPr sz="1235" b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abon Next LT" panose="02000500000000000000" pitchFamily="2" charset="0"/>
              </a:defRPr>
            </a:lvl1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B622B6EA-87B2-4005-886F-9C56CA410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24529" y="5705395"/>
            <a:ext cx="2441039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2">
            <a:extLst>
              <a:ext uri="{FF2B5EF4-FFF2-40B4-BE49-F238E27FC236}">
                <a16:creationId xmlns:a16="http://schemas.microsoft.com/office/drawing/2014/main" id="{973E5716-210F-4380-9984-AFBCD053E9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5377" y="5804956"/>
            <a:ext cx="2546602" cy="280949"/>
          </a:xfrm>
        </p:spPr>
        <p:txBody>
          <a:bodyPr rtlCol="0">
            <a:normAutofit/>
          </a:bodyPr>
          <a:lstStyle>
            <a:lvl1pPr marL="0" indent="0">
              <a:buNone/>
              <a:defRPr sz="1235" b="0">
                <a:solidFill>
                  <a:schemeClr val="tx2">
                    <a:lumMod val="40000"/>
                    <a:lumOff val="6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abon Next LT" panose="02000500000000000000" pitchFamily="2" charset="0"/>
              </a:defRPr>
            </a:lvl1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pic>
        <p:nvPicPr>
          <p:cNvPr id="14" name="그림 개체 틀 18" descr="배경 패턴 기하학 ">
            <a:extLst>
              <a:ext uri="{FF2B5EF4-FFF2-40B4-BE49-F238E27FC236}">
                <a16:creationId xmlns:a16="http://schemas.microsoft.com/office/drawing/2014/main" id="{C13EE6D0-D8CB-4A8E-A299-32E07EB5CC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69189" y="0"/>
            <a:ext cx="3822811" cy="6858000"/>
          </a:xfrm>
          <a:prstGeom prst="rect">
            <a:avLst/>
          </a:prstGeom>
        </p:spPr>
      </p:pic>
      <p:sp>
        <p:nvSpPr>
          <p:cNvPr id="29" name="텍스트 개체 틀 12">
            <a:extLst>
              <a:ext uri="{FF2B5EF4-FFF2-40B4-BE49-F238E27FC236}">
                <a16:creationId xmlns:a16="http://schemas.microsoft.com/office/drawing/2014/main" id="{A51B195D-3DAE-4C5C-9245-5BEB084619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4386" y="5378012"/>
            <a:ext cx="2546602" cy="280949"/>
          </a:xfrm>
          <a:ln>
            <a:noFill/>
          </a:ln>
        </p:spPr>
        <p:txBody>
          <a:bodyPr rtlCol="0">
            <a:normAutofit/>
          </a:bodyPr>
          <a:lstStyle>
            <a:lvl1pPr marL="0" indent="0" algn="l">
              <a:buNone/>
              <a:defRPr sz="1235" b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abon Next LT" panose="02000500000000000000" pitchFamily="2" charset="0"/>
              </a:defRPr>
            </a:lvl1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</p:spTree>
    <p:extLst>
      <p:ext uri="{BB962C8B-B14F-4D97-AF65-F5344CB8AC3E}">
        <p14:creationId xmlns:p14="http://schemas.microsoft.com/office/powerpoint/2010/main" val="2318951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개체 틀 18" descr="배경 패턴 기하학 ">
            <a:extLst>
              <a:ext uri="{FF2B5EF4-FFF2-40B4-BE49-F238E27FC236}">
                <a16:creationId xmlns:a16="http://schemas.microsoft.com/office/drawing/2014/main" id="{C13EE6D0-D8CB-4A8E-A299-32E07EB5CC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822811" cy="6858000"/>
          </a:xfrm>
          <a:prstGeom prst="rect">
            <a:avLst/>
          </a:prstGeom>
        </p:spPr>
      </p:pic>
      <p:sp>
        <p:nvSpPr>
          <p:cNvPr id="21" name="텍스트 개체 틀 12">
            <a:extLst>
              <a:ext uri="{FF2B5EF4-FFF2-40B4-BE49-F238E27FC236}">
                <a16:creationId xmlns:a16="http://schemas.microsoft.com/office/drawing/2014/main" id="{4D057FDB-D73F-427B-995E-EFF2554FC3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3425" y="378999"/>
            <a:ext cx="7572653" cy="766219"/>
          </a:xfrm>
        </p:spPr>
        <p:txBody>
          <a:bodyPr rtlCol="0" anchor="ctr">
            <a:normAutofit/>
          </a:bodyPr>
          <a:lstStyle>
            <a:lvl1pPr marL="0" indent="0">
              <a:buNone/>
              <a:defRPr sz="3600" b="1">
                <a:solidFill>
                  <a:srgbClr val="243144"/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pPr lvl="0" rtl="0"/>
            <a:r>
              <a:rPr lang="ko-KR" altLang="en-US" noProof="0"/>
              <a:t>제목을 입력하세요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860E17-785F-463C-A8DC-EB0B3C37B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0574" y="1316765"/>
            <a:ext cx="7075503" cy="5162236"/>
          </a:xfrm>
        </p:spPr>
        <p:txBody>
          <a:bodyPr anchor="t"/>
          <a:lstStyle>
            <a:lvl1pPr marL="444500" indent="-444500" algn="l" defTabSz="914400" rtl="0" eaLnBrk="1" latinLnBrk="1" hangingPunct="1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  <a:defRPr lang="ko-KR" altLang="en-US" sz="2000" b="1" kern="1200" dirty="0" smtClean="0">
                <a:solidFill>
                  <a:srgbClr val="243144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  <a:lvl2pPr>
              <a:lnSpc>
                <a:spcPct val="150000"/>
              </a:lnSpc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2pPr>
            <a:lvl3pPr>
              <a:lnSpc>
                <a:spcPct val="150000"/>
              </a:lnSpc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3pPr>
            <a:lvl4pPr>
              <a:defRPr>
                <a:latin typeface="Noto Sans KR" panose="020B0500000000000000" pitchFamily="34" charset="-127"/>
                <a:ea typeface="Noto Sans KR" panose="020B0500000000000000" pitchFamily="34" charset="-127"/>
              </a:defRPr>
            </a:lvl4pPr>
            <a:lvl5pPr>
              <a:defRPr>
                <a:latin typeface="Noto Sans KR" panose="020B0500000000000000" pitchFamily="34" charset="-127"/>
                <a:ea typeface="Noto Sans KR" panose="020B0500000000000000" pitchFamily="34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69952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과 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;p15">
            <a:extLst>
              <a:ext uri="{FF2B5EF4-FFF2-40B4-BE49-F238E27FC236}">
                <a16:creationId xmlns:a16="http://schemas.microsoft.com/office/drawing/2014/main" id="{3348CEA5-5FE2-58C8-5B17-D0332347A5FC}"/>
              </a:ext>
            </a:extLst>
          </p:cNvPr>
          <p:cNvSpPr/>
          <p:nvPr userDrawn="1"/>
        </p:nvSpPr>
        <p:spPr>
          <a:xfrm>
            <a:off x="0" y="0"/>
            <a:ext cx="12192000" cy="188865"/>
          </a:xfrm>
          <a:prstGeom prst="rect">
            <a:avLst/>
          </a:prstGeom>
          <a:solidFill>
            <a:srgbClr val="24314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2;p15">
            <a:extLst>
              <a:ext uri="{FF2B5EF4-FFF2-40B4-BE49-F238E27FC236}">
                <a16:creationId xmlns:a16="http://schemas.microsoft.com/office/drawing/2014/main" id="{17287DDE-ECDF-D8AD-1A8B-B8A9A88F08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323" y="471895"/>
            <a:ext cx="11673355" cy="613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2400" b="1">
                <a:solidFill>
                  <a:schemeClr val="dk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ko-KR" altLang="en-US" noProof="0"/>
          </a:p>
        </p:txBody>
      </p:sp>
      <p:sp>
        <p:nvSpPr>
          <p:cNvPr id="11" name="Google Shape;23;p15">
            <a:extLst>
              <a:ext uri="{FF2B5EF4-FFF2-40B4-BE49-F238E27FC236}">
                <a16:creationId xmlns:a16="http://schemas.microsoft.com/office/drawing/2014/main" id="{FC1BD03C-8FF7-1F01-492B-0160750827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+mj-lt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Google Shape;24;p15">
            <a:extLst>
              <a:ext uri="{FF2B5EF4-FFF2-40B4-BE49-F238E27FC236}">
                <a16:creationId xmlns:a16="http://schemas.microsoft.com/office/drawing/2014/main" id="{2127EF5D-F29B-CF6B-CCB6-B2ABACF7C82D}"/>
              </a:ext>
            </a:extLst>
          </p:cNvPr>
          <p:cNvSpPr txBox="1"/>
          <p:nvPr userDrawn="1"/>
        </p:nvSpPr>
        <p:spPr>
          <a:xfrm>
            <a:off x="1009833" y="1548034"/>
            <a:ext cx="104552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92E5266-AEE0-8441-49F3-DD83793745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323" y="1250830"/>
            <a:ext cx="11673355" cy="5407665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chemeClr val="accent3"/>
              </a:buClr>
              <a:buFont typeface="Wingdings" panose="05000000000000000000" pitchFamily="2" charset="2"/>
              <a:buChar char="l"/>
              <a:defRPr sz="1600" b="1">
                <a:solidFill>
                  <a:srgbClr val="373545"/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  <a:lvl2pPr marL="534988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latin typeface="Noto Sans KR" panose="020B0500000000000000" pitchFamily="34" charset="-127"/>
                <a:ea typeface="Noto Sans KR" panose="020B0500000000000000" pitchFamily="34" charset="-127"/>
              </a:defRPr>
            </a:lvl2pPr>
            <a:lvl3pPr marL="801688" indent="-228600">
              <a:lnSpc>
                <a:spcPct val="100000"/>
              </a:lnSpc>
              <a:defRPr sz="1200">
                <a:latin typeface="Noto Sans KR" panose="020B0500000000000000" pitchFamily="34" charset="-127"/>
                <a:ea typeface="Noto Sans KR" panose="020B0500000000000000" pitchFamily="34" charset="-127"/>
              </a:defRPr>
            </a:lvl3pPr>
            <a:lvl4pPr marL="1076325" indent="-228600">
              <a:defRPr lang="ko-KR" altLang="en-US" sz="1100" kern="1200" dirty="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4pPr>
            <a:lvl5pPr>
              <a:defRPr sz="1600">
                <a:latin typeface="Source Han Mono" panose="020B0500000000000000" pitchFamily="34" charset="-127"/>
                <a:ea typeface="Source Han Mono" panose="020B0500000000000000" pitchFamily="34" charset="-127"/>
              </a:defRPr>
            </a:lvl5pPr>
          </a:lstStyle>
          <a:p>
            <a:pPr lvl="0"/>
            <a:r>
              <a:rPr lang="ko-KR" altLang="en-US"/>
              <a:t>첫 번째 수준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  <a:endParaRPr lang="en-US" altLang="ko-KR"/>
          </a:p>
          <a:p>
            <a:pPr marL="1076325" lvl="3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/>
              <a:t>네 번째 수준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9CA08667-B10F-B584-7D00-E700D53CC9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1927" y="251701"/>
            <a:ext cx="1566104" cy="235124"/>
          </a:xfrm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ko-KR"/>
              <a:t>(YY.MM.DD)</a:t>
            </a:r>
            <a:endParaRPr lang="ko-KR" altLang="en-US"/>
          </a:p>
        </p:txBody>
      </p:sp>
      <p:pic>
        <p:nvPicPr>
          <p:cNvPr id="15" name="그림 개체 틀 18" descr="배경 패턴 기하학 ">
            <a:extLst>
              <a:ext uri="{FF2B5EF4-FFF2-40B4-BE49-F238E27FC236}">
                <a16:creationId xmlns:a16="http://schemas.microsoft.com/office/drawing/2014/main" id="{6072C728-0C29-3348-A42C-A45CC52AFA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246"/>
          <a:stretch/>
        </p:blipFill>
        <p:spPr>
          <a:xfrm>
            <a:off x="8369189" y="0"/>
            <a:ext cx="3822811" cy="188865"/>
          </a:xfrm>
          <a:prstGeom prst="rect">
            <a:avLst/>
          </a:prstGeom>
        </p:spPr>
      </p:pic>
      <p:grpSp>
        <p:nvGrpSpPr>
          <p:cNvPr id="2" name="Google Shape;19;p15">
            <a:extLst>
              <a:ext uri="{FF2B5EF4-FFF2-40B4-BE49-F238E27FC236}">
                <a16:creationId xmlns:a16="http://schemas.microsoft.com/office/drawing/2014/main" id="{D74A5766-993C-C0AE-FAAC-989FD45FEC1B}"/>
              </a:ext>
            </a:extLst>
          </p:cNvPr>
          <p:cNvGrpSpPr/>
          <p:nvPr userDrawn="1"/>
        </p:nvGrpSpPr>
        <p:grpSpPr>
          <a:xfrm>
            <a:off x="366246" y="335917"/>
            <a:ext cx="994351" cy="61101"/>
            <a:chOff x="4580561" y="2589004"/>
            <a:chExt cx="1064464" cy="25200"/>
          </a:xfrm>
        </p:grpSpPr>
        <p:sp>
          <p:nvSpPr>
            <p:cNvPr id="3" name="Google Shape;20;p15">
              <a:extLst>
                <a:ext uri="{FF2B5EF4-FFF2-40B4-BE49-F238E27FC236}">
                  <a16:creationId xmlns:a16="http://schemas.microsoft.com/office/drawing/2014/main" id="{B32E3256-0D02-620A-830F-4C3F75BF99E9}"/>
                </a:ext>
              </a:extLst>
            </p:cNvPr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21;p15">
              <a:extLst>
                <a:ext uri="{FF2B5EF4-FFF2-40B4-BE49-F238E27FC236}">
                  <a16:creationId xmlns:a16="http://schemas.microsoft.com/office/drawing/2014/main" id="{BF9322CF-FD0A-A38D-AAB1-23AE3A233521}"/>
                </a:ext>
              </a:extLst>
            </p:cNvPr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gradFill>
              <a:gsLst>
                <a:gs pos="0">
                  <a:srgbClr val="243144"/>
                </a:gs>
                <a:gs pos="100000">
                  <a:srgbClr val="354865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653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;p15">
            <a:extLst>
              <a:ext uri="{FF2B5EF4-FFF2-40B4-BE49-F238E27FC236}">
                <a16:creationId xmlns:a16="http://schemas.microsoft.com/office/drawing/2014/main" id="{3348CEA5-5FE2-58C8-5B17-D0332347A5FC}"/>
              </a:ext>
            </a:extLst>
          </p:cNvPr>
          <p:cNvSpPr/>
          <p:nvPr userDrawn="1"/>
        </p:nvSpPr>
        <p:spPr>
          <a:xfrm>
            <a:off x="0" y="0"/>
            <a:ext cx="12192000" cy="188865"/>
          </a:xfrm>
          <a:prstGeom prst="rect">
            <a:avLst/>
          </a:prstGeom>
          <a:solidFill>
            <a:srgbClr val="24314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oogle Shape;19;p15">
            <a:extLst>
              <a:ext uri="{FF2B5EF4-FFF2-40B4-BE49-F238E27FC236}">
                <a16:creationId xmlns:a16="http://schemas.microsoft.com/office/drawing/2014/main" id="{12815630-FC9D-1D5E-AD84-DFE089F66A8B}"/>
              </a:ext>
            </a:extLst>
          </p:cNvPr>
          <p:cNvGrpSpPr/>
          <p:nvPr userDrawn="1"/>
        </p:nvGrpSpPr>
        <p:grpSpPr>
          <a:xfrm>
            <a:off x="366246" y="335917"/>
            <a:ext cx="994351" cy="61101"/>
            <a:chOff x="4580561" y="2589004"/>
            <a:chExt cx="1064464" cy="25200"/>
          </a:xfrm>
        </p:grpSpPr>
        <p:sp>
          <p:nvSpPr>
            <p:cNvPr id="8" name="Google Shape;20;p15">
              <a:extLst>
                <a:ext uri="{FF2B5EF4-FFF2-40B4-BE49-F238E27FC236}">
                  <a16:creationId xmlns:a16="http://schemas.microsoft.com/office/drawing/2014/main" id="{0F9C5BCE-B7D2-1F00-71EA-B36AC42BD7C3}"/>
                </a:ext>
              </a:extLst>
            </p:cNvPr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1;p15">
              <a:extLst>
                <a:ext uri="{FF2B5EF4-FFF2-40B4-BE49-F238E27FC236}">
                  <a16:creationId xmlns:a16="http://schemas.microsoft.com/office/drawing/2014/main" id="{6309A862-C3BA-E2C0-C841-65F4A1CB8838}"/>
                </a:ext>
              </a:extLst>
            </p:cNvPr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gradFill>
              <a:gsLst>
                <a:gs pos="0">
                  <a:srgbClr val="243144"/>
                </a:gs>
                <a:gs pos="100000">
                  <a:srgbClr val="354865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" name="Google Shape;22;p15">
            <a:extLst>
              <a:ext uri="{FF2B5EF4-FFF2-40B4-BE49-F238E27FC236}">
                <a16:creationId xmlns:a16="http://schemas.microsoft.com/office/drawing/2014/main" id="{17287DDE-ECDF-D8AD-1A8B-B8A9A88F08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323" y="471895"/>
            <a:ext cx="11673355" cy="613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2400" b="1">
                <a:solidFill>
                  <a:schemeClr val="dk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467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23;p15">
            <a:extLst>
              <a:ext uri="{FF2B5EF4-FFF2-40B4-BE49-F238E27FC236}">
                <a16:creationId xmlns:a16="http://schemas.microsoft.com/office/drawing/2014/main" id="{FC1BD03C-8FF7-1F01-492B-0160750827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+mj-lt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Google Shape;24;p15">
            <a:extLst>
              <a:ext uri="{FF2B5EF4-FFF2-40B4-BE49-F238E27FC236}">
                <a16:creationId xmlns:a16="http://schemas.microsoft.com/office/drawing/2014/main" id="{2127EF5D-F29B-CF6B-CCB6-B2ABACF7C82D}"/>
              </a:ext>
            </a:extLst>
          </p:cNvPr>
          <p:cNvSpPr txBox="1"/>
          <p:nvPr userDrawn="1"/>
        </p:nvSpPr>
        <p:spPr>
          <a:xfrm>
            <a:off x="1009833" y="1548034"/>
            <a:ext cx="104552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9CA08667-B10F-B584-7D00-E700D53CC9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1927" y="251701"/>
            <a:ext cx="1566104" cy="235124"/>
          </a:xfrm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ko-KR"/>
              <a:t>(YY.MM.DD)</a:t>
            </a:r>
            <a:endParaRPr lang="ko-KR" altLang="en-US"/>
          </a:p>
        </p:txBody>
      </p:sp>
      <p:pic>
        <p:nvPicPr>
          <p:cNvPr id="15" name="그림 개체 틀 18" descr="배경 패턴 기하학 ">
            <a:extLst>
              <a:ext uri="{FF2B5EF4-FFF2-40B4-BE49-F238E27FC236}">
                <a16:creationId xmlns:a16="http://schemas.microsoft.com/office/drawing/2014/main" id="{6072C728-0C29-3348-A42C-A45CC52AFA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246"/>
          <a:stretch/>
        </p:blipFill>
        <p:spPr>
          <a:xfrm>
            <a:off x="8369189" y="0"/>
            <a:ext cx="3822811" cy="18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31FAC2-C673-4D37-A23F-B940D505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79E6E3-2474-4505-811F-4AAD95EA2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888A52-B4EC-4DC6-9951-675536994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7FD4A4-52F6-4CB1-BD28-8D141A8CA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F52722-0935-45FD-B53E-4C4EE5D6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4080-7CBE-4FBD-944C-C03530A76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07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6">
            <a:extLst>
              <a:ext uri="{FF2B5EF4-FFF2-40B4-BE49-F238E27FC236}">
                <a16:creationId xmlns:a16="http://schemas.microsoft.com/office/drawing/2014/main" id="{0FDC8B94-A584-41A5-8EE7-42AE7ABB87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85" y="2240043"/>
            <a:ext cx="7240174" cy="1388261"/>
          </a:xfrm>
        </p:spPr>
        <p:txBody>
          <a:bodyPr/>
          <a:lstStyle/>
          <a:p>
            <a:r>
              <a:rPr lang="en-US" altLang="ko-KR" sz="2400"/>
              <a:t>PRISM: Predictive Reasoning for Industrial Structure Mapping with Graph Learning and Multi-agent Interpretation</a:t>
            </a:r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398C92F8-D697-4019-B586-BEC06441F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789" y="938293"/>
            <a:ext cx="7240169" cy="596113"/>
          </a:xfrm>
        </p:spPr>
        <p:txBody>
          <a:bodyPr/>
          <a:lstStyle/>
          <a:p>
            <a:r>
              <a:rPr lang="en-US" altLang="ko-KR"/>
              <a:t>Research</a:t>
            </a:r>
            <a:r>
              <a:rPr lang="ko-KR" altLang="en-US"/>
              <a:t> </a:t>
            </a:r>
            <a:r>
              <a:rPr lang="en-US" altLang="ko-KR"/>
              <a:t>Note</a:t>
            </a:r>
            <a:endParaRPr lang="ko-KR" altLang="en-US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E8A17B98-D525-B86E-AB2C-98A4B7640D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89" y="1882588"/>
            <a:ext cx="5041676" cy="321769"/>
          </a:xfrm>
        </p:spPr>
        <p:txBody>
          <a:bodyPr/>
          <a:lstStyle/>
          <a:p>
            <a:r>
              <a:rPr lang="en-US" altLang="ko-KR"/>
              <a:t>Prediction, Graph Neural Network</a:t>
            </a:r>
            <a:endParaRPr lang="ko-KR" altLang="en-US"/>
          </a:p>
        </p:txBody>
      </p:sp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751F626F-1E4A-000E-05CA-692DF698B0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Target: Scientific Reports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C294CA0-61D1-4D20-8FF9-F04C63520F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787" y="5804956"/>
            <a:ext cx="2546602" cy="280949"/>
          </a:xfrm>
        </p:spPr>
        <p:txBody>
          <a:bodyPr/>
          <a:lstStyle/>
          <a:p>
            <a:r>
              <a:rPr lang="en-US" altLang="ko-KR"/>
              <a:t>Team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A51EA63-CE51-417D-AB93-13D1563B68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15375" y="5378012"/>
            <a:ext cx="2546602" cy="280949"/>
          </a:xfrm>
        </p:spPr>
        <p:txBody>
          <a:bodyPr/>
          <a:lstStyle/>
          <a:p>
            <a:r>
              <a:rPr lang="en-US" altLang="ko-KR"/>
              <a:t>26.09.02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E966E9E-4CC2-4959-82CC-C0860CEECF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15377" y="5804956"/>
            <a:ext cx="2546602" cy="280949"/>
          </a:xfrm>
        </p:spPr>
        <p:txBody>
          <a:bodyPr/>
          <a:lstStyle/>
          <a:p>
            <a:r>
              <a:rPr lang="en-US" altLang="ko-KR"/>
              <a:t>Last Updated</a:t>
            </a:r>
            <a:endParaRPr lang="ko-KR" altLang="en-US"/>
          </a:p>
        </p:txBody>
      </p:sp>
      <p:sp>
        <p:nvSpPr>
          <p:cNvPr id="55" name="텍스트 개체 틀 54">
            <a:extLst>
              <a:ext uri="{FF2B5EF4-FFF2-40B4-BE49-F238E27FC236}">
                <a16:creationId xmlns:a16="http://schemas.microsoft.com/office/drawing/2014/main" id="{9B615320-9B36-4C94-841B-D851C34800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386" y="5378012"/>
            <a:ext cx="2546602" cy="280949"/>
          </a:xfrm>
        </p:spPr>
        <p:txBody>
          <a:bodyPr/>
          <a:lstStyle/>
          <a:p>
            <a:r>
              <a:rPr lang="ko-KR" altLang="en-US"/>
              <a:t>정해민</a:t>
            </a:r>
            <a:r>
              <a:rPr lang="en-US" altLang="ko-KR"/>
              <a:t>, </a:t>
            </a:r>
            <a:r>
              <a:rPr lang="ko-KR" altLang="en-US"/>
              <a:t>류하승</a:t>
            </a:r>
            <a:r>
              <a:rPr lang="en-US" altLang="ko-KR"/>
              <a:t>, </a:t>
            </a:r>
            <a:r>
              <a:rPr lang="ko-KR" altLang="en-US"/>
              <a:t>한성일</a:t>
            </a:r>
          </a:p>
        </p:txBody>
      </p:sp>
    </p:spTree>
    <p:extLst>
      <p:ext uri="{BB962C8B-B14F-4D97-AF65-F5344CB8AC3E}">
        <p14:creationId xmlns:p14="http://schemas.microsoft.com/office/powerpoint/2010/main" val="244236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E91B-5070-43AE-9224-4919BC9DD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D359D-DAA8-BE62-AE01-9CC46EDFD5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</p:spPr>
        <p:txBody>
          <a:bodyPr/>
          <a:lstStyle/>
          <a:p>
            <a:r>
              <a:rPr>
                <a:latin typeface="Noto Sans KR" panose="020B0200000000000000" pitchFamily="34" charset="-128"/>
                <a:ea typeface="Noto Sans KR" panose="020B0200000000000000" pitchFamily="34" charset="-128"/>
              </a:rPr>
              <a:t>1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EC163E7A-F89A-3AD8-1A9E-E89319DDBD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1927" y="251701"/>
            <a:ext cx="1566104" cy="235124"/>
          </a:xfrm>
        </p:spPr>
        <p:txBody>
          <a:bodyPr/>
          <a:lstStyle/>
          <a:p>
            <a:r>
              <a:rPr>
                <a:latin typeface="Noto Sans KR" panose="020B0200000000000000" pitchFamily="34" charset="-128"/>
                <a:ea typeface="Noto Sans KR" panose="020B0200000000000000" pitchFamily="34" charset="-128"/>
              </a:rPr>
              <a:t>2026.09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800" y="1071658"/>
            <a:ext cx="7920000" cy="14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산업별 경쟁력 수준, 산업 간 격차, 그리고 방향성 있는 상호의존 구조를 함께 추적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0800" y="1467080"/>
            <a:ext cx="2682000" cy="121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0800" y="1528280"/>
            <a:ext cx="250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85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① Node State — 산업별 경쟁력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800" y="2007080"/>
            <a:ext cx="250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각 산업의 월</a:t>
            </a:r>
            <a:r>
              <a:rPr lang="en-US"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(</a:t>
            </a:r>
            <a:r>
              <a:rPr lang="ko-KR" altLang="en-US"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분기</a:t>
            </a:r>
            <a:r>
              <a:rPr lang="en-US" altLang="ko-KR"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  <a:r>
              <a:rPr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별 경쟁력 수준과 </a:t>
            </a:r>
            <a:br>
              <a:rPr lang="en-US"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</a:br>
            <a:r>
              <a:rPr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미래 trajectory를 동일 척도에서 비교한다.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9895" y="1467080"/>
            <a:ext cx="2942401" cy="1216800"/>
          </a:xfrm>
          <a:prstGeom prst="roundRect">
            <a:avLst/>
          </a:prstGeom>
          <a:solidFill>
            <a:srgbClr val="E8F2F8"/>
          </a:solidFill>
          <a:ln w="12700">
            <a:solidFill>
              <a:srgbClr val="00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89896" y="1528280"/>
            <a:ext cx="250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>
                <a:solidFill>
                  <a:srgbClr val="00685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③ </a:t>
            </a:r>
            <a:r>
              <a:rPr sz="1200" b="1">
                <a:solidFill>
                  <a:srgbClr val="00685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Competitive Gap — 경쟁격차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9896" y="2007080"/>
            <a:ext cx="285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산업 간 격차가 확대·축소·역전되는지를 계산한다. Gap은 node 값에서 파생된다.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79286" y="1467080"/>
            <a:ext cx="3023179" cy="121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69287" y="1528280"/>
            <a:ext cx="250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>
                <a:solidFill>
                  <a:srgbClr val="00685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②  </a:t>
            </a:r>
            <a:r>
              <a:rPr sz="1200" b="1">
                <a:solidFill>
                  <a:srgbClr val="00685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Graph Edge — 구조적 관계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9286" y="2007080"/>
            <a:ext cx="29331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산업 i의 과거 dynamics가 산업 j의 미래 </a:t>
            </a:r>
            <a:r>
              <a:rPr lang="ko-KR" altLang="en-US"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경쟁력을</a:t>
            </a:r>
            <a:r>
              <a:rPr sz="100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예측하는 데 기여하는 정도를 학습한다.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45600" y="3139076"/>
            <a:ext cx="4194000" cy="1846884"/>
          </a:xfrm>
          <a:prstGeom prst="roundRect">
            <a:avLst/>
          </a:prstGeom>
          <a:solidFill>
            <a:srgbClr val="FAFDFC"/>
          </a:solidFill>
          <a:ln w="12700">
            <a:solidFill>
              <a:srgbClr val="BE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4800" rIns="90000" rtlCol="0" anchor="ctr">
            <a:noAutofit/>
          </a:bodyPr>
          <a:lstStyle/>
          <a:p>
            <a:pPr algn="l"/>
            <a:r>
              <a:rPr sz="1600" b="1">
                <a:solidFill>
                  <a:srgbClr val="BE3F3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Why gap alone is weak</a:t>
            </a:r>
            <a:endParaRPr lang="en-US" sz="1600" b="1">
              <a:solidFill>
                <a:srgbClr val="BE3F3F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/>
            <a:r>
              <a:rPr sz="1400" b="1">
                <a:solidFill>
                  <a:srgbClr val="BE3F3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
</a:t>
            </a:r>
            <a:r>
              <a:rPr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G</a:t>
            </a:r>
            <a:r>
              <a:rPr lang="en-US"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</a:t>
            </a:r>
            <a:r>
              <a:rPr lang="ko-KR" altLang="en-US"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은</a:t>
            </a:r>
            <a:r>
              <a:rPr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en-US"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Node State</a:t>
            </a:r>
            <a:r>
              <a:rPr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를 빼면 자동 계산된다. </a:t>
            </a:r>
            <a:endParaRPr lang="en-US" sz="1400" b="0">
              <a:solidFill>
                <a:srgbClr val="48525E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/>
            <a:r>
              <a:rPr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따라서 graph edge로 쓰면 node 값의 반복일 뿐, </a:t>
            </a:r>
            <a:endParaRPr lang="en-US" sz="1400" b="0">
              <a:solidFill>
                <a:srgbClr val="48525E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/>
            <a:r>
              <a:rPr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새로운 관계 정보를 주지 못한다.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9323" y="3139076"/>
            <a:ext cx="5253631" cy="1846884"/>
          </a:xfrm>
          <a:prstGeom prst="roundRect">
            <a:avLst/>
          </a:prstGeom>
          <a:solidFill>
            <a:srgbClr val="FAFDFC"/>
          </a:solidFill>
          <a:ln w="12700">
            <a:solidFill>
              <a:srgbClr val="BE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4800" rIns="90000" rtlCol="0" anchor="ctr">
            <a:noAutofit/>
          </a:bodyPr>
          <a:lstStyle/>
          <a:p>
            <a:pPr algn="l"/>
            <a:r>
              <a:rPr sz="1600" b="1">
                <a:solidFill>
                  <a:srgbClr val="00685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How PRISM uses edge</a:t>
            </a:r>
            <a:endParaRPr lang="en-US" sz="1600" b="1">
              <a:solidFill>
                <a:srgbClr val="00685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/>
            <a:r>
              <a:rPr sz="1600" b="1">
                <a:solidFill>
                  <a:srgbClr val="00685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
</a:t>
            </a:r>
            <a:r>
              <a:rPr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Edge는 “누가 더 강한가”가 아니라 </a:t>
            </a:r>
            <a:endParaRPr lang="en-US" sz="1400" b="0">
              <a:solidFill>
                <a:srgbClr val="48525E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/>
            <a:r>
              <a:rPr sz="1400" b="0">
                <a:solidFill>
                  <a:srgbClr val="48525E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“어떤 산업의 변화가 다른 산업의 미래와 연결되는가”를 보여준다. </a:t>
            </a:r>
          </a:p>
        </p:txBody>
      </p:sp>
      <p:sp>
        <p:nvSpPr>
          <p:cNvPr id="2" name="제목 11">
            <a:extLst>
              <a:ext uri="{FF2B5EF4-FFF2-40B4-BE49-F238E27FC236}">
                <a16:creationId xmlns:a16="http://schemas.microsoft.com/office/drawing/2014/main" id="{48740647-212F-457C-C98C-AD50FCE0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23" y="471895"/>
            <a:ext cx="11673355" cy="613858"/>
          </a:xfrm>
        </p:spPr>
        <p:txBody>
          <a:bodyPr/>
          <a:lstStyle/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PRISM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을 통해 무엇을 분석하는가</a:t>
            </a:r>
          </a:p>
        </p:txBody>
      </p:sp>
    </p:spTree>
    <p:extLst>
      <p:ext uri="{BB962C8B-B14F-4D97-AF65-F5344CB8AC3E}">
        <p14:creationId xmlns:p14="http://schemas.microsoft.com/office/powerpoint/2010/main" val="233131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2040-835A-B98D-EBE0-8AE91316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5582AA6B-0B88-89A3-E755-C39A9FF1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23" y="471895"/>
            <a:ext cx="11673355" cy="613858"/>
          </a:xfrm>
        </p:spPr>
        <p:txBody>
          <a:bodyPr/>
          <a:lstStyle/>
          <a:p>
            <a:r>
              <a:rPr lang="en-US" altLang="ko-KR"/>
              <a:t>Dataset Construction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7B7195-4192-0DC7-9411-3DDF384FEB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3</a:t>
            </a:fld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443624-61AE-4C0D-B9ED-187CEA42D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572" y="1044228"/>
            <a:ext cx="11673355" cy="5407665"/>
          </a:xfrm>
        </p:spPr>
        <p:txBody>
          <a:bodyPr/>
          <a:lstStyle/>
          <a:p>
            <a:r>
              <a:rPr lang="en-US" altLang="ko-KR"/>
              <a:t>Target</a:t>
            </a:r>
            <a:r>
              <a:rPr lang="ko-KR" altLang="en-US"/>
              <a:t> 선정 조건</a:t>
            </a: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산업 경쟁력(Industry/Sector Competitiveness)을 직접 측정한다고 선행연구에서 정의되어야 함</a:t>
            </a:r>
            <a:endParaRPr lang="en-US" altLang="ko-KR">
              <a:solidFill>
                <a:srgbClr val="2683C6"/>
              </a:solidFill>
            </a:endParaRPr>
          </a:p>
          <a:p>
            <a:pPr marL="306388" lvl="1" indent="0">
              <a:buNone/>
            </a:pPr>
            <a:r>
              <a:rPr lang="ko-KR" altLang="en-US"/>
              <a:t>→  </a:t>
            </a:r>
            <a:r>
              <a:rPr lang="ko-KR" altLang="ko-KR"/>
              <a:t>productivity나 growth를 임의로 “경쟁력”이라고 부르면 안 됨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단일 정량 Index/Score로 산출 가능해야 함→ </a:t>
            </a:r>
            <a:r>
              <a:rPr lang="en-US" altLang="ko-KR">
                <a:solidFill>
                  <a:srgbClr val="2683C6"/>
                </a:solidFill>
              </a:rPr>
              <a:t> </a:t>
            </a:r>
            <a:r>
              <a:rPr lang="ko-KR" altLang="ko-KR">
                <a:solidFill>
                  <a:srgbClr val="2683C6"/>
                </a:solidFill>
              </a:rPr>
              <a:t>graph edge가 산업 A ↔ 산업 B 관계로 해석 가능해야 함</a:t>
            </a:r>
            <a:endParaRPr lang="en-US" altLang="ko-KR">
              <a:solidFill>
                <a:srgbClr val="2683C6"/>
              </a:solidFill>
            </a:endParaRPr>
          </a:p>
          <a:p>
            <a:pPr marL="306388" lvl="1" indent="0">
              <a:buNone/>
            </a:pPr>
            <a:r>
              <a:rPr lang="ko-KR" altLang="en-US"/>
              <a:t>→  </a:t>
            </a:r>
            <a:r>
              <a:rPr lang="ko-KR" altLang="ko-KR"/>
              <a:t>B-MTGNN의 명확한 forecasting target이 필요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서로 다른 산업에 동일한 개념과 산식으로 적용 가능해야 함</a:t>
            </a:r>
            <a:r>
              <a:rPr lang="en-US" altLang="ko-KR">
                <a:solidFill>
                  <a:srgbClr val="2683C6"/>
                </a:solidFill>
              </a:rPr>
              <a:t>  (</a:t>
            </a:r>
            <a:r>
              <a:rPr lang="ko-KR" altLang="ko-KR">
                <a:solidFill>
                  <a:srgbClr val="2683C6"/>
                </a:solidFill>
              </a:rPr>
              <a:t>특정 산업 특성에 구조적으로 편향되면 안 됨</a:t>
            </a:r>
            <a:r>
              <a:rPr lang="en-US" altLang="ko-KR">
                <a:solidFill>
                  <a:srgbClr val="2683C6"/>
                </a:solidFill>
              </a:rPr>
              <a:t>)</a:t>
            </a:r>
          </a:p>
          <a:p>
            <a:pPr marL="306388" lvl="1" indent="0">
              <a:buNone/>
            </a:pPr>
            <a:r>
              <a:rPr lang="ko-KR" altLang="ko-KR"/>
              <a:t>→</a:t>
            </a:r>
            <a:r>
              <a:rPr lang="en-US" altLang="ko-KR"/>
              <a:t>  </a:t>
            </a:r>
            <a:r>
              <a:rPr lang="ko-KR" altLang="ko-KR"/>
              <a:t>제조·금융·교육·의료·건설 등을 공정하게 비교해야 함</a:t>
            </a:r>
            <a:endParaRPr lang="en-US" altLang="ko-KR"/>
          </a:p>
          <a:p>
            <a:pPr marL="306388" lvl="1" indent="0">
              <a:buNone/>
            </a:pPr>
            <a:r>
              <a:rPr lang="ko-KR" altLang="ko-KR"/>
              <a:t>→</a:t>
            </a:r>
            <a:r>
              <a:rPr lang="en-US" altLang="ko-KR"/>
              <a:t>  </a:t>
            </a:r>
            <a:r>
              <a:rPr lang="ko-KR" altLang="ko-KR"/>
              <a:t>수출 RCA처럼 tradable sector가 유리하거나, 특허처럼 기술산업만 유리하면 탈락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산식을 공개적으로 재현할 수 있어야 함 </a:t>
            </a:r>
            <a:endParaRPr lang="en-US" altLang="ko-KR">
              <a:solidFill>
                <a:srgbClr val="2683C6"/>
              </a:solidFill>
            </a:endParaRPr>
          </a:p>
          <a:p>
            <a:pPr marL="306388" lvl="1" indent="0">
              <a:buNone/>
            </a:pPr>
            <a:r>
              <a:rPr lang="ko-KR" altLang="ko-KR"/>
              <a:t>→</a:t>
            </a:r>
            <a:r>
              <a:rPr lang="en-US" altLang="ko-KR"/>
              <a:t>  </a:t>
            </a:r>
            <a:r>
              <a:rPr lang="ko-KR" altLang="ko-KR"/>
              <a:t>S&amp;P PMI처럼 proprietary black-box면 무료 데이터를 구해도 재현 불가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산업별 월</a:t>
            </a:r>
            <a:r>
              <a:rPr lang="en-US" altLang="ko-KR">
                <a:solidFill>
                  <a:srgbClr val="2683C6"/>
                </a:solidFill>
              </a:rPr>
              <a:t>(</a:t>
            </a:r>
            <a:r>
              <a:rPr lang="ko-KR" altLang="en-US">
                <a:solidFill>
                  <a:srgbClr val="2683C6"/>
                </a:solidFill>
              </a:rPr>
              <a:t>분기</a:t>
            </a:r>
            <a:r>
              <a:rPr lang="en-US" altLang="ko-KR">
                <a:solidFill>
                  <a:srgbClr val="2683C6"/>
                </a:solidFill>
              </a:rPr>
              <a:t>)</a:t>
            </a:r>
            <a:r>
              <a:rPr lang="ko-KR" altLang="ko-KR">
                <a:solidFill>
                  <a:srgbClr val="2683C6"/>
                </a:solidFill>
              </a:rPr>
              <a:t>별 데이터로 실제 계산 가능해야 함</a:t>
            </a:r>
            <a:endParaRPr lang="en-US" altLang="ko-KR">
              <a:solidFill>
                <a:srgbClr val="2683C6"/>
              </a:solidFill>
            </a:endParaRPr>
          </a:p>
          <a:p>
            <a:pPr marL="306388" lvl="1" indent="0">
              <a:buNone/>
            </a:pPr>
            <a:r>
              <a:rPr lang="ko-KR" altLang="ko-KR"/>
              <a:t>→</a:t>
            </a:r>
            <a:r>
              <a:rPr lang="en-US" altLang="ko-KR"/>
              <a:t> </a:t>
            </a:r>
            <a:r>
              <a:rPr lang="ko-KR" altLang="ko-KR"/>
              <a:t>이론상 좋은 연간 지표면 PRISM 월별 forecasting에는 </a:t>
            </a:r>
            <a:r>
              <a:rPr lang="ko-KR" altLang="en-US"/>
              <a:t>사용 불가</a:t>
            </a:r>
            <a:endParaRPr lang="en-US" altLang="ko-KR"/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983E26CA-CAD9-E040-74D4-B1EA2DEA9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1927" y="251701"/>
            <a:ext cx="1566104" cy="235124"/>
          </a:xfrm>
        </p:spPr>
        <p:txBody>
          <a:bodyPr/>
          <a:lstStyle/>
          <a:p>
            <a:r>
              <a:rPr lang="en-US" altLang="ko-KR"/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449023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1B6E9-4FD4-FBC4-AB30-9ED98BB69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A675D06A-0F4E-C4DD-3E40-E8A3F21F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23" y="471895"/>
            <a:ext cx="11673355" cy="613858"/>
          </a:xfrm>
        </p:spPr>
        <p:txBody>
          <a:bodyPr/>
          <a:lstStyle/>
          <a:p>
            <a:r>
              <a:rPr lang="en-US" altLang="ko-KR"/>
              <a:t>Dataset Construction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9D1058-B022-E164-700C-BEE014D17B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4</a:t>
            </a:fld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582376-2FCE-0980-6147-0CB987E19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572" y="1044228"/>
            <a:ext cx="11917428" cy="5407665"/>
          </a:xfrm>
        </p:spPr>
        <p:txBody>
          <a:bodyPr/>
          <a:lstStyle/>
          <a:p>
            <a:r>
              <a:rPr lang="ko-KR" altLang="en-US"/>
              <a:t>경쟁력 측정</a:t>
            </a:r>
            <a:r>
              <a:rPr lang="en-US" altLang="ko-KR"/>
              <a:t> - </a:t>
            </a:r>
            <a:r>
              <a:rPr lang="ko-KR" altLang="ko-KR"/>
              <a:t>Industrial Competitiveness Index (ICI)</a:t>
            </a:r>
            <a:r>
              <a:rPr lang="en-US" altLang="ko-KR"/>
              <a:t>: </a:t>
            </a:r>
            <a:r>
              <a:rPr lang="ko-KR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산업의 경쟁력을 수익성·생산성·성장성의 다차원 성과로 측정하는 복합지수</a:t>
            </a:r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8"/>
            <a:r>
              <a:rPr lang="en-US" altLang="ko-KR" sz="1600">
                <a:latin typeface="Noto Sans KR" panose="020B0200000000000000" pitchFamily="34" charset="-128"/>
                <a:ea typeface="Noto Sans KR" panose="020B0200000000000000" pitchFamily="34" charset="-128"/>
              </a:rPr>
              <a:t>                              </a:t>
            </a:r>
            <a:r>
              <a:rPr lang="ko-KR" altLang="en-US" sz="1600" b="1">
                <a:solidFill>
                  <a:srgbClr val="37354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단일 지표로 계산되는 </a:t>
            </a:r>
            <a:r>
              <a:rPr lang="en-US" altLang="ko-KR" sz="1600" b="1">
                <a:solidFill>
                  <a:srgbClr val="37354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Index</a:t>
            </a:r>
            <a:r>
              <a:rPr lang="ko-KR" altLang="en-US" sz="1600" b="1">
                <a:solidFill>
                  <a:srgbClr val="37354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보다 </a:t>
            </a:r>
            <a:r>
              <a:rPr lang="en-US" altLang="ko-KR" sz="1600" b="1">
                <a:solidFill>
                  <a:srgbClr val="37354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multi-agent </a:t>
            </a:r>
            <a:r>
              <a:rPr lang="ko-KR" altLang="en-US" sz="1600" b="1">
                <a:solidFill>
                  <a:srgbClr val="37354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결합하기 유리</a:t>
            </a:r>
            <a:endParaRPr lang="en-US" altLang="ko-KR" sz="1600">
              <a:solidFill>
                <a:srgbClr val="37354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8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endParaRPr lang="en-US" altLang="ko-KR" sz="100" b="1"/>
          </a:p>
          <a:p>
            <a:pPr lvl="1"/>
            <a:endParaRPr lang="en-US" altLang="ko-KR" b="1"/>
          </a:p>
          <a:p>
            <a:pPr lvl="1"/>
            <a:r>
              <a:rPr lang="ko-KR" altLang="en-US" b="1"/>
              <a:t>연구 계보</a:t>
            </a:r>
            <a:endParaRPr lang="en-US" altLang="ko-KR" b="1"/>
          </a:p>
          <a:p>
            <a:pPr marL="573088" lvl="2" indent="0">
              <a:buNone/>
            </a:pPr>
            <a:endParaRPr lang="en-US" altLang="ko-KR" sz="400" b="1"/>
          </a:p>
          <a:p>
            <a:pPr lvl="2"/>
            <a:endParaRPr lang="en-US" altLang="ko-KR" b="1"/>
          </a:p>
          <a:p>
            <a:pPr lvl="2"/>
            <a:endParaRPr lang="en-US" altLang="ko-KR" b="1"/>
          </a:p>
          <a:p>
            <a:pPr lvl="2"/>
            <a:endParaRPr lang="en-US" altLang="ko-KR" b="1"/>
          </a:p>
          <a:p>
            <a:pPr lvl="2"/>
            <a:endParaRPr lang="en-US" altLang="ko-KR" b="1"/>
          </a:p>
          <a:p>
            <a:pPr lvl="2"/>
            <a:endParaRPr lang="en-US" altLang="ko-KR" b="1"/>
          </a:p>
          <a:p>
            <a:pPr lvl="2"/>
            <a:endParaRPr lang="en-US" altLang="ko-KR" b="1"/>
          </a:p>
          <a:p>
            <a:pPr lvl="2"/>
            <a:endParaRPr lang="en-US" altLang="ko-KR" b="1"/>
          </a:p>
          <a:p>
            <a:pPr marL="573088" lvl="2" indent="0">
              <a:buNone/>
            </a:pPr>
            <a:endParaRPr lang="en-US" altLang="ko-KR" b="1"/>
          </a:p>
          <a:p>
            <a:pPr marL="306388" lvl="1" indent="0">
              <a:buNone/>
            </a:pPr>
            <a:endParaRPr lang="en-US" altLang="ko-KR"/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7F4E47CE-3C32-A314-FDBD-480B634D80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1927" y="251701"/>
            <a:ext cx="1566104" cy="235124"/>
          </a:xfrm>
        </p:spPr>
        <p:txBody>
          <a:bodyPr/>
          <a:lstStyle/>
          <a:p>
            <a:r>
              <a:rPr lang="en-US" altLang="ko-KR"/>
              <a:t>2026.09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9">
                <a:extLst>
                  <a:ext uri="{FF2B5EF4-FFF2-40B4-BE49-F238E27FC236}">
                    <a16:creationId xmlns:a16="http://schemas.microsoft.com/office/drawing/2014/main" id="{78DD2280-3279-7B66-A74E-FE8189D0C08E}"/>
                  </a:ext>
                </a:extLst>
              </p:cNvPr>
              <p:cNvSpPr/>
              <p:nvPr/>
            </p:nvSpPr>
            <p:spPr>
              <a:xfrm>
                <a:off x="629601" y="2104456"/>
                <a:ext cx="4463259" cy="658368"/>
              </a:xfrm>
              <a:prstGeom prst="rect">
                <a:avLst/>
              </a:prstGeom>
              <a:solidFill>
                <a:srgbClr val="E2F0EC"/>
              </a:solidFill>
              <a:ln w="12700">
                <a:solidFill>
                  <a:srgbClr val="2F8C86">
                    <a:alpha val="65000"/>
                  </a:srgbClr>
                </a:solidFill>
              </a:ln>
            </p:spPr>
            <p:txBody>
              <a:bodyPr wrap="square" lIns="1016" tIns="1016" rIns="1016" bIns="1016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ko-KR" altLang="en-US" sz="1600" b="1" i="1" dirty="0" smtClean="0">
                          <a:solidFill>
                            <a:srgbClr val="20313D"/>
                          </a:solidFill>
                          <a:latin typeface="Cambria Math" panose="02040503050406030204" pitchFamily="18" charset="0"/>
                        </a:rPr>
                        <m:t>𝑰𝑪</m:t>
                      </m:r>
                      <m:sSub>
                        <m:sSubPr>
                          <m:ctrlPr>
                            <a:rPr lang="ko-KR" altLang="en-US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ko-KR" altLang="en-US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ko-KR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dirty="0" smtClean="0">
                          <a:solidFill>
                            <a:srgbClr val="20313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ko-KR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𝒑𝒓𝒐𝒇𝒊𝒕</m:t>
                              </m:r>
                            </m:sup>
                          </m:sSubSup>
                          <m:r>
                            <a:rPr lang="en-US" altLang="ko-KR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ko-KR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𝒑𝒓𝒐𝒅</m:t>
                              </m:r>
                            </m:sup>
                          </m:sSubSup>
                          <m:r>
                            <a:rPr lang="en-US" altLang="ko-KR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ko-KR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ko-KR" altLang="en-US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𝒈𝒓𝒐𝒘𝒕</m:t>
                              </m:r>
                              <m:r>
                                <a:rPr lang="en-US" altLang="ko-KR" sz="16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p>
                          </m:sSubSup>
                        </m:num>
                        <m:den>
                          <m:r>
                            <a:rPr lang="en-US" altLang="ko-KR" sz="16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b="1"/>
              </a:p>
            </p:txBody>
          </p:sp>
        </mc:Choice>
        <mc:Fallback xmlns="">
          <p:sp>
            <p:nvSpPr>
              <p:cNvPr id="2" name="Text 9">
                <a:extLst>
                  <a:ext uri="{FF2B5EF4-FFF2-40B4-BE49-F238E27FC236}">
                    <a16:creationId xmlns:a16="http://schemas.microsoft.com/office/drawing/2014/main" id="{78DD2280-3279-7B66-A74E-FE8189D0C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01" y="2104456"/>
                <a:ext cx="4463259" cy="6583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2F8C86">
                    <a:alpha val="65000"/>
                  </a:srgb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10">
            <a:extLst>
              <a:ext uri="{FF2B5EF4-FFF2-40B4-BE49-F238E27FC236}">
                <a16:creationId xmlns:a16="http://schemas.microsoft.com/office/drawing/2014/main" id="{580425FE-A0CF-8B81-9193-63A9085213F7}"/>
              </a:ext>
            </a:extLst>
          </p:cNvPr>
          <p:cNvSpPr/>
          <p:nvPr/>
        </p:nvSpPr>
        <p:spPr>
          <a:xfrm>
            <a:off x="629601" y="2820699"/>
            <a:ext cx="512128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b="1">
                <a:solidFill>
                  <a:srgbClr val="20313D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• Profitability - 수익 창출 능력</a:t>
            </a:r>
            <a:endParaRPr lang="en-US" sz="120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20313D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• Productivity - 투입 대비 산출 효율</a:t>
            </a:r>
            <a:endParaRPr lang="en-US" sz="120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20313D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• Growth - 산업 활동·산출 성장성</a:t>
            </a:r>
          </a:p>
          <a:p>
            <a:r>
              <a:rPr lang="en-US" altLang="ko-KR" sz="1200" b="1">
                <a:solidFill>
                  <a:srgbClr val="37354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• </a:t>
            </a:r>
            <a:r>
              <a:rPr lang="ko-KR" altLang="ko-KR" sz="1200" b="1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m^k,</a:t>
            </a:r>
            <a:r>
              <a:rPr lang="en-US" altLang="ko-KR" sz="1200" b="1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ko-KR" altLang="ko-KR" sz="1200" b="1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M^k를 </a:t>
            </a:r>
            <a:r>
              <a:rPr lang="en-US" altLang="ko-KR" sz="1200" b="1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val/test</a:t>
            </a:r>
            <a:r>
              <a:rPr lang="ko-KR" altLang="en-US" sz="1200" b="1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에서도 </a:t>
            </a:r>
            <a:r>
              <a:rPr lang="ko-KR" altLang="ko-KR" sz="1200" b="1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train 기준으로 고정하여 누수 방지</a:t>
            </a:r>
            <a:endParaRPr lang="ko-KR" altLang="en-US" sz="1200" b="1">
              <a:solidFill>
                <a:srgbClr val="FF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2714BACF-4ADB-859A-E8EE-9F02A360030D}"/>
              </a:ext>
            </a:extLst>
          </p:cNvPr>
          <p:cNvSpPr/>
          <p:nvPr/>
        </p:nvSpPr>
        <p:spPr>
          <a:xfrm>
            <a:off x="351086" y="4469905"/>
            <a:ext cx="1576964" cy="786384"/>
          </a:xfrm>
          <a:prstGeom prst="rect">
            <a:avLst/>
          </a:prstGeom>
          <a:solidFill>
            <a:srgbClr val="F6F1E8"/>
          </a:solidFill>
          <a:ln w="12700">
            <a:solidFill>
              <a:srgbClr val="DCD5CC"/>
            </a:solidFill>
          </a:ln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Porter &amp; van der Linde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(</a:t>
            </a:r>
            <a: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1995)</a:t>
            </a:r>
            <a:b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</a:b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산업 경쟁력의 핵심을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productivity와 연결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" name="Shape 21">
            <a:extLst>
              <a:ext uri="{FF2B5EF4-FFF2-40B4-BE49-F238E27FC236}">
                <a16:creationId xmlns:a16="http://schemas.microsoft.com/office/drawing/2014/main" id="{57A335F4-64DF-1F50-3626-7314925309D8}"/>
              </a:ext>
            </a:extLst>
          </p:cNvPr>
          <p:cNvSpPr/>
          <p:nvPr/>
        </p:nvSpPr>
        <p:spPr>
          <a:xfrm>
            <a:off x="1928050" y="4848397"/>
            <a:ext cx="256032" cy="0"/>
          </a:xfrm>
          <a:prstGeom prst="line">
            <a:avLst/>
          </a:prstGeom>
          <a:noFill/>
          <a:ln w="16510">
            <a:solidFill>
              <a:srgbClr val="2F8C8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B91C84EF-DEAE-0125-6C02-FE1C92DBECBD}"/>
              </a:ext>
            </a:extLst>
          </p:cNvPr>
          <p:cNvSpPr/>
          <p:nvPr/>
        </p:nvSpPr>
        <p:spPr>
          <a:xfrm>
            <a:off x="351086" y="5441133"/>
            <a:ext cx="1576964" cy="786384"/>
          </a:xfrm>
          <a:prstGeom prst="rect">
            <a:avLst/>
          </a:prstGeom>
          <a:solidFill>
            <a:srgbClr val="E2F0EC"/>
          </a:solidFill>
          <a:ln w="12700">
            <a:solidFill>
              <a:srgbClr val="2F8C86"/>
            </a:solidFill>
          </a:ln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Fischer &amp; Schornberg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ctr"/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(</a:t>
            </a:r>
            <a: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2007)</a:t>
            </a:r>
            <a:b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</a:br>
            <a:b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</a:br>
            <a:r>
              <a:rPr lang="ko-KR" altLang="ko-KR" sz="800" b="1">
                <a:latin typeface="Noto Sans KR" panose="020B0200000000000000" pitchFamily="34" charset="-128"/>
                <a:ea typeface="Noto Sans KR" panose="020B0200000000000000" pitchFamily="34" charset="-128"/>
              </a:rPr>
              <a:t>EU 식음료 제조업에서 Industrial Competitiveness Index 제안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4" name="Shape 23">
            <a:extLst>
              <a:ext uri="{FF2B5EF4-FFF2-40B4-BE49-F238E27FC236}">
                <a16:creationId xmlns:a16="http://schemas.microsoft.com/office/drawing/2014/main" id="{18D9CDD5-0018-27CA-588D-78BBA9E347EE}"/>
              </a:ext>
            </a:extLst>
          </p:cNvPr>
          <p:cNvSpPr/>
          <p:nvPr/>
        </p:nvSpPr>
        <p:spPr>
          <a:xfrm flipH="1">
            <a:off x="1928050" y="5256289"/>
            <a:ext cx="256032" cy="184841"/>
          </a:xfrm>
          <a:prstGeom prst="line">
            <a:avLst/>
          </a:prstGeom>
          <a:noFill/>
          <a:ln w="16510">
            <a:solidFill>
              <a:srgbClr val="2F8C8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24">
            <a:extLst>
              <a:ext uri="{FF2B5EF4-FFF2-40B4-BE49-F238E27FC236}">
                <a16:creationId xmlns:a16="http://schemas.microsoft.com/office/drawing/2014/main" id="{40055813-B3A7-3895-EC51-90234A593FFA}"/>
              </a:ext>
            </a:extLst>
          </p:cNvPr>
          <p:cNvSpPr/>
          <p:nvPr/>
        </p:nvSpPr>
        <p:spPr>
          <a:xfrm>
            <a:off x="2184082" y="5417364"/>
            <a:ext cx="1576964" cy="786384"/>
          </a:xfrm>
          <a:prstGeom prst="rect">
            <a:avLst/>
          </a:prstGeom>
          <a:solidFill>
            <a:srgbClr val="F6F1E8"/>
          </a:solidFill>
          <a:ln w="12700">
            <a:solidFill>
              <a:srgbClr val="DCD5CC"/>
            </a:solidFill>
          </a:ln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OECD / Latruffe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(</a:t>
            </a:r>
            <a: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2010)</a:t>
            </a:r>
            <a:b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</a:b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ICI</a:t>
            </a:r>
            <a:r>
              <a:rPr lang="ko-KR" alt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를 활용한</a:t>
            </a:r>
            <a:br>
              <a:rPr lang="en-US" altLang="ko-KR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</a:br>
            <a: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복수 </a:t>
            </a: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성과지표 집계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접근 검토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6" name="Shape 25">
            <a:extLst>
              <a:ext uri="{FF2B5EF4-FFF2-40B4-BE49-F238E27FC236}">
                <a16:creationId xmlns:a16="http://schemas.microsoft.com/office/drawing/2014/main" id="{7B8519D1-6933-DE14-8B2B-8B8BF8DDA7A0}"/>
              </a:ext>
            </a:extLst>
          </p:cNvPr>
          <p:cNvSpPr/>
          <p:nvPr/>
        </p:nvSpPr>
        <p:spPr>
          <a:xfrm>
            <a:off x="3761046" y="5810556"/>
            <a:ext cx="256032" cy="0"/>
          </a:xfrm>
          <a:prstGeom prst="line">
            <a:avLst/>
          </a:prstGeom>
          <a:noFill/>
          <a:ln w="16510">
            <a:solidFill>
              <a:srgbClr val="2F8C8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1CB782B6-FB6F-7D15-F9E5-A44D8855E9F6}"/>
              </a:ext>
            </a:extLst>
          </p:cNvPr>
          <p:cNvSpPr/>
          <p:nvPr/>
        </p:nvSpPr>
        <p:spPr>
          <a:xfrm>
            <a:off x="4017078" y="5441133"/>
            <a:ext cx="1576964" cy="786384"/>
          </a:xfrm>
          <a:prstGeom prst="rect">
            <a:avLst/>
          </a:prstGeom>
          <a:solidFill>
            <a:srgbClr val="F6F1E8"/>
          </a:solidFill>
          <a:ln w="12700">
            <a:solidFill>
              <a:srgbClr val="DCD5CC"/>
            </a:solidFill>
          </a:ln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Sahoo, Rath &amp; Le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(</a:t>
            </a:r>
            <a: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2021)</a:t>
            </a:r>
            <a:br>
              <a:rPr lang="en-US" sz="78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</a:b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11개 제조산업에 동일 ICI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buNone/>
            </a:pPr>
            <a:r>
              <a:rPr lang="en-US" sz="780" b="1" dirty="0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  <a:t>inter-industry 비교</a:t>
            </a:r>
            <a:endParaRPr lang="en-US" sz="78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4254CEEC-5D33-BBBB-91A5-89307A6928E3}"/>
              </a:ext>
            </a:extLst>
          </p:cNvPr>
          <p:cNvSpPr/>
          <p:nvPr/>
        </p:nvSpPr>
        <p:spPr>
          <a:xfrm>
            <a:off x="5390200" y="1768792"/>
            <a:ext cx="2240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1E6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선정 조건 검토</a:t>
            </a:r>
            <a:endParaRPr lang="en-US" sz="1600" dirty="0"/>
          </a:p>
        </p:txBody>
      </p:sp>
      <p:sp>
        <p:nvSpPr>
          <p:cNvPr id="19" name="Shape 28">
            <a:extLst>
              <a:ext uri="{FF2B5EF4-FFF2-40B4-BE49-F238E27FC236}">
                <a16:creationId xmlns:a16="http://schemas.microsoft.com/office/drawing/2014/main" id="{C73FA726-B482-C022-FCA1-8EEE40A1F10F}"/>
              </a:ext>
            </a:extLst>
          </p:cNvPr>
          <p:cNvSpPr/>
          <p:nvPr/>
        </p:nvSpPr>
        <p:spPr>
          <a:xfrm>
            <a:off x="5390200" y="2152840"/>
            <a:ext cx="6382512" cy="0"/>
          </a:xfrm>
          <a:prstGeom prst="line">
            <a:avLst/>
          </a:prstGeom>
          <a:noFill/>
          <a:ln w="27940">
            <a:solidFill>
              <a:srgbClr val="20313D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93690813-E3AA-97A3-B6B7-8BC4570318AB}"/>
              </a:ext>
            </a:extLst>
          </p:cNvPr>
          <p:cNvSpPr/>
          <p:nvPr/>
        </p:nvSpPr>
        <p:spPr>
          <a:xfrm>
            <a:off x="5435920" y="2207704"/>
            <a:ext cx="2971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60" b="1" dirty="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</a:t>
            </a:r>
            <a:endParaRPr lang="en-US" sz="860" dirty="0"/>
          </a:p>
        </p:txBody>
      </p:sp>
      <p:sp>
        <p:nvSpPr>
          <p:cNvPr id="21" name="Text 30">
            <a:extLst>
              <a:ext uri="{FF2B5EF4-FFF2-40B4-BE49-F238E27FC236}">
                <a16:creationId xmlns:a16="http://schemas.microsoft.com/office/drawing/2014/main" id="{27E28482-2DB0-1ED1-FD67-CF8A3403865B}"/>
              </a:ext>
            </a:extLst>
          </p:cNvPr>
          <p:cNvSpPr/>
          <p:nvPr/>
        </p:nvSpPr>
        <p:spPr>
          <a:xfrm>
            <a:off x="8608888" y="2207704"/>
            <a:ext cx="640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" b="1" dirty="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</a:t>
            </a:r>
            <a:endParaRPr lang="en-US" sz="860" dirty="0"/>
          </a:p>
        </p:txBody>
      </p:sp>
      <p:sp>
        <p:nvSpPr>
          <p:cNvPr id="22" name="Text 31">
            <a:extLst>
              <a:ext uri="{FF2B5EF4-FFF2-40B4-BE49-F238E27FC236}">
                <a16:creationId xmlns:a16="http://schemas.microsoft.com/office/drawing/2014/main" id="{A97A41F8-5C7E-F170-7FED-E3FEA519C83B}"/>
              </a:ext>
            </a:extLst>
          </p:cNvPr>
          <p:cNvSpPr/>
          <p:nvPr/>
        </p:nvSpPr>
        <p:spPr>
          <a:xfrm>
            <a:off x="9450136" y="2207704"/>
            <a:ext cx="21579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60" b="1" dirty="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</a:t>
            </a:r>
            <a:endParaRPr lang="en-US" sz="860" dirty="0"/>
          </a:p>
        </p:txBody>
      </p:sp>
      <p:sp>
        <p:nvSpPr>
          <p:cNvPr id="23" name="Shape 32">
            <a:extLst>
              <a:ext uri="{FF2B5EF4-FFF2-40B4-BE49-F238E27FC236}">
                <a16:creationId xmlns:a16="http://schemas.microsoft.com/office/drawing/2014/main" id="{F91D5D57-B0F8-C7EA-2463-5638EF417F35}"/>
              </a:ext>
            </a:extLst>
          </p:cNvPr>
          <p:cNvSpPr/>
          <p:nvPr/>
        </p:nvSpPr>
        <p:spPr>
          <a:xfrm>
            <a:off x="5390200" y="2472880"/>
            <a:ext cx="6382512" cy="0"/>
          </a:xfrm>
          <a:prstGeom prst="line">
            <a:avLst/>
          </a:prstGeom>
          <a:noFill/>
          <a:ln w="12700">
            <a:solidFill>
              <a:srgbClr val="DCD5C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33">
            <a:extLst>
              <a:ext uri="{FF2B5EF4-FFF2-40B4-BE49-F238E27FC236}">
                <a16:creationId xmlns:a16="http://schemas.microsoft.com/office/drawing/2014/main" id="{CBA9AE8C-89FF-BE6B-3950-EF4A29FD2A10}"/>
              </a:ext>
            </a:extLst>
          </p:cNvPr>
          <p:cNvSpPr/>
          <p:nvPr/>
        </p:nvSpPr>
        <p:spPr>
          <a:xfrm>
            <a:off x="5435920" y="2536888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40" dirty="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산업 경쟁력을 직접 측정</a:t>
            </a:r>
            <a:endParaRPr lang="en-US" sz="840" dirty="0"/>
          </a:p>
        </p:txBody>
      </p:sp>
      <p:sp>
        <p:nvSpPr>
          <p:cNvPr id="25" name="Text 34">
            <a:extLst>
              <a:ext uri="{FF2B5EF4-FFF2-40B4-BE49-F238E27FC236}">
                <a16:creationId xmlns:a16="http://schemas.microsoft.com/office/drawing/2014/main" id="{5AE7F070-A295-D452-5B1F-71D02FE1B72A}"/>
              </a:ext>
            </a:extLst>
          </p:cNvPr>
          <p:cNvSpPr/>
          <p:nvPr/>
        </p:nvSpPr>
        <p:spPr>
          <a:xfrm>
            <a:off x="8608888" y="253688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40" b="1" dirty="0">
                <a:solidFill>
                  <a:srgbClr val="1F8A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충족</a:t>
            </a:r>
            <a:endParaRPr lang="en-US" sz="840" dirty="0"/>
          </a:p>
        </p:txBody>
      </p:sp>
      <p:sp>
        <p:nvSpPr>
          <p:cNvPr id="26" name="Text 35">
            <a:extLst>
              <a:ext uri="{FF2B5EF4-FFF2-40B4-BE49-F238E27FC236}">
                <a16:creationId xmlns:a16="http://schemas.microsoft.com/office/drawing/2014/main" id="{912849C9-9335-7C3E-F3B1-AA80AE384DEA}"/>
              </a:ext>
            </a:extLst>
          </p:cNvPr>
          <p:cNvSpPr/>
          <p:nvPr/>
        </p:nvSpPr>
        <p:spPr>
          <a:xfrm>
            <a:off x="9450136" y="2536888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40" dirty="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ICI로 명시</a:t>
            </a:r>
            <a:endParaRPr lang="en-US" sz="840" dirty="0"/>
          </a:p>
        </p:txBody>
      </p:sp>
      <p:sp>
        <p:nvSpPr>
          <p:cNvPr id="28" name="Shape 36">
            <a:extLst>
              <a:ext uri="{FF2B5EF4-FFF2-40B4-BE49-F238E27FC236}">
                <a16:creationId xmlns:a16="http://schemas.microsoft.com/office/drawing/2014/main" id="{7157E20C-69AB-8842-028E-397EEFC821E6}"/>
              </a:ext>
            </a:extLst>
          </p:cNvPr>
          <p:cNvSpPr/>
          <p:nvPr/>
        </p:nvSpPr>
        <p:spPr>
          <a:xfrm>
            <a:off x="5390200" y="2783776"/>
            <a:ext cx="6382512" cy="0"/>
          </a:xfrm>
          <a:prstGeom prst="line">
            <a:avLst/>
          </a:prstGeom>
          <a:noFill/>
          <a:ln w="7620">
            <a:solidFill>
              <a:srgbClr val="E9E0D7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37">
            <a:extLst>
              <a:ext uri="{FF2B5EF4-FFF2-40B4-BE49-F238E27FC236}">
                <a16:creationId xmlns:a16="http://schemas.microsoft.com/office/drawing/2014/main" id="{B1C5447E-22EF-144C-0E7F-E85A3F2DA869}"/>
              </a:ext>
            </a:extLst>
          </p:cNvPr>
          <p:cNvSpPr/>
          <p:nvPr/>
        </p:nvSpPr>
        <p:spPr>
          <a:xfrm>
            <a:off x="5435920" y="2811208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40" dirty="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</a:t>
            </a:r>
            <a:r>
              <a:rPr lang="en-US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Index/Score</a:t>
            </a:r>
            <a:endParaRPr lang="en-US" sz="840" dirty="0"/>
          </a:p>
        </p:txBody>
      </p:sp>
      <p:sp>
        <p:nvSpPr>
          <p:cNvPr id="30" name="Text 38">
            <a:extLst>
              <a:ext uri="{FF2B5EF4-FFF2-40B4-BE49-F238E27FC236}">
                <a16:creationId xmlns:a16="http://schemas.microsoft.com/office/drawing/2014/main" id="{A3285A29-BA38-195F-6AE3-F4F5E9A91FC2}"/>
              </a:ext>
            </a:extLst>
          </p:cNvPr>
          <p:cNvSpPr/>
          <p:nvPr/>
        </p:nvSpPr>
        <p:spPr>
          <a:xfrm>
            <a:off x="8608888" y="281120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40" b="1" dirty="0">
                <a:solidFill>
                  <a:srgbClr val="1F8A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충족</a:t>
            </a:r>
            <a:endParaRPr lang="en-US" sz="840" dirty="0"/>
          </a:p>
        </p:txBody>
      </p:sp>
      <p:sp>
        <p:nvSpPr>
          <p:cNvPr id="31" name="Text 39">
            <a:extLst>
              <a:ext uri="{FF2B5EF4-FFF2-40B4-BE49-F238E27FC236}">
                <a16:creationId xmlns:a16="http://schemas.microsoft.com/office/drawing/2014/main" id="{D0E2EE4C-D9E7-23F2-D94B-06AF86620BD1}"/>
              </a:ext>
            </a:extLst>
          </p:cNvPr>
          <p:cNvSpPr/>
          <p:nvPr/>
        </p:nvSpPr>
        <p:spPr>
          <a:xfrm>
            <a:off x="9450136" y="2811208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r>
              <a:rPr lang="ko-KR" altLang="en-US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 경쟁성과를 단일 </a:t>
            </a:r>
            <a:r>
              <a:rPr lang="en-US" altLang="ko-KR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scalar</a:t>
            </a:r>
            <a:r>
              <a:rPr lang="ko-KR" altLang="en-US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 통합</a:t>
            </a:r>
            <a:endParaRPr lang="en-US" sz="840" dirty="0"/>
          </a:p>
        </p:txBody>
      </p:sp>
      <p:sp>
        <p:nvSpPr>
          <p:cNvPr id="32" name="Shape 40">
            <a:extLst>
              <a:ext uri="{FF2B5EF4-FFF2-40B4-BE49-F238E27FC236}">
                <a16:creationId xmlns:a16="http://schemas.microsoft.com/office/drawing/2014/main" id="{9D604F98-5FDD-7A01-C19A-F4E6D2616F26}"/>
              </a:ext>
            </a:extLst>
          </p:cNvPr>
          <p:cNvSpPr/>
          <p:nvPr/>
        </p:nvSpPr>
        <p:spPr>
          <a:xfrm>
            <a:off x="5390200" y="3058096"/>
            <a:ext cx="6382512" cy="0"/>
          </a:xfrm>
          <a:prstGeom prst="line">
            <a:avLst/>
          </a:prstGeom>
          <a:noFill/>
          <a:ln w="7620">
            <a:solidFill>
              <a:srgbClr val="E9E0D7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41">
            <a:extLst>
              <a:ext uri="{FF2B5EF4-FFF2-40B4-BE49-F238E27FC236}">
                <a16:creationId xmlns:a16="http://schemas.microsoft.com/office/drawing/2014/main" id="{34839D92-BEFA-1437-C5C5-76B4E0ECD918}"/>
              </a:ext>
            </a:extLst>
          </p:cNvPr>
          <p:cNvSpPr/>
          <p:nvPr/>
        </p:nvSpPr>
        <p:spPr>
          <a:xfrm>
            <a:off x="5435920" y="3085528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서로 다른 산업에 동일 개념</a:t>
            </a:r>
            <a:r>
              <a:rPr lang="en-US" altLang="ko-KR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산식 적용</a:t>
            </a:r>
            <a:endParaRPr lang="en-US" sz="840" dirty="0"/>
          </a:p>
        </p:txBody>
      </p:sp>
      <p:sp>
        <p:nvSpPr>
          <p:cNvPr id="34" name="Text 42">
            <a:extLst>
              <a:ext uri="{FF2B5EF4-FFF2-40B4-BE49-F238E27FC236}">
                <a16:creationId xmlns:a16="http://schemas.microsoft.com/office/drawing/2014/main" id="{7055B31C-619C-41DB-A9BB-5B729B92D015}"/>
              </a:ext>
            </a:extLst>
          </p:cNvPr>
          <p:cNvSpPr/>
          <p:nvPr/>
        </p:nvSpPr>
        <p:spPr>
          <a:xfrm>
            <a:off x="8608888" y="308552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40" b="1" dirty="0">
                <a:solidFill>
                  <a:srgbClr val="1F8A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충족</a:t>
            </a:r>
            <a:endParaRPr lang="en-US" sz="840" dirty="0"/>
          </a:p>
        </p:txBody>
      </p:sp>
      <p:sp>
        <p:nvSpPr>
          <p:cNvPr id="35" name="Text 43">
            <a:extLst>
              <a:ext uri="{FF2B5EF4-FFF2-40B4-BE49-F238E27FC236}">
                <a16:creationId xmlns:a16="http://schemas.microsoft.com/office/drawing/2014/main" id="{0AF9E582-2E71-FFAC-A555-47E85FA98AF9}"/>
              </a:ext>
            </a:extLst>
          </p:cNvPr>
          <p:cNvSpPr/>
          <p:nvPr/>
        </p:nvSpPr>
        <p:spPr>
          <a:xfrm>
            <a:off x="9450136" y="3112959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9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계보에서 제조업</a:t>
            </a:r>
            <a:r>
              <a:rPr lang="en-US" altLang="ko-KR" sz="9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9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서비스업 공통</a:t>
            </a:r>
            <a:br>
              <a:rPr lang="en-US" altLang="ko-KR" sz="9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</a:br>
            <a:r>
              <a:rPr lang="en-US" altLang="ko-KR" sz="9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competitiveness framework </a:t>
            </a:r>
            <a:r>
              <a:rPr lang="ko-KR" altLang="en-US" sz="9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</a:t>
            </a:r>
            <a:endParaRPr lang="en-US" sz="900" dirty="0"/>
          </a:p>
        </p:txBody>
      </p:sp>
      <p:sp>
        <p:nvSpPr>
          <p:cNvPr id="36" name="Shape 44">
            <a:extLst>
              <a:ext uri="{FF2B5EF4-FFF2-40B4-BE49-F238E27FC236}">
                <a16:creationId xmlns:a16="http://schemas.microsoft.com/office/drawing/2014/main" id="{7A45B322-90F4-C12E-1ACA-495751D5D992}"/>
              </a:ext>
            </a:extLst>
          </p:cNvPr>
          <p:cNvSpPr/>
          <p:nvPr/>
        </p:nvSpPr>
        <p:spPr>
          <a:xfrm>
            <a:off x="5390200" y="3332416"/>
            <a:ext cx="6382512" cy="0"/>
          </a:xfrm>
          <a:prstGeom prst="line">
            <a:avLst/>
          </a:prstGeom>
          <a:noFill/>
          <a:ln w="7620">
            <a:solidFill>
              <a:srgbClr val="E9E0D7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45">
            <a:extLst>
              <a:ext uri="{FF2B5EF4-FFF2-40B4-BE49-F238E27FC236}">
                <a16:creationId xmlns:a16="http://schemas.microsoft.com/office/drawing/2014/main" id="{908791BC-71A0-F6CA-08DF-B13EEAA61018}"/>
              </a:ext>
            </a:extLst>
          </p:cNvPr>
          <p:cNvSpPr/>
          <p:nvPr/>
        </p:nvSpPr>
        <p:spPr>
          <a:xfrm>
            <a:off x="5435920" y="3359848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산식으로 재현 가능</a:t>
            </a:r>
            <a:endParaRPr lang="en-US" sz="840" dirty="0"/>
          </a:p>
        </p:txBody>
      </p:sp>
      <p:sp>
        <p:nvSpPr>
          <p:cNvPr id="38" name="Text 46">
            <a:extLst>
              <a:ext uri="{FF2B5EF4-FFF2-40B4-BE49-F238E27FC236}">
                <a16:creationId xmlns:a16="http://schemas.microsoft.com/office/drawing/2014/main" id="{3B639CF9-7FCB-650D-F07E-81FC25D8F765}"/>
              </a:ext>
            </a:extLst>
          </p:cNvPr>
          <p:cNvSpPr/>
          <p:nvPr/>
        </p:nvSpPr>
        <p:spPr>
          <a:xfrm>
            <a:off x="8608888" y="33598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40" b="1">
                <a:solidFill>
                  <a:srgbClr val="1F8A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충족</a:t>
            </a:r>
            <a:endParaRPr lang="en-US" altLang="ko-KR" sz="840" dirty="0"/>
          </a:p>
        </p:txBody>
      </p:sp>
      <p:sp>
        <p:nvSpPr>
          <p:cNvPr id="39" name="Text 47">
            <a:extLst>
              <a:ext uri="{FF2B5EF4-FFF2-40B4-BE49-F238E27FC236}">
                <a16:creationId xmlns:a16="http://schemas.microsoft.com/office/drawing/2014/main" id="{EAA7FB8A-2B40-629E-92BF-5BFA94A3BEC7}"/>
              </a:ext>
            </a:extLst>
          </p:cNvPr>
          <p:cNvSpPr/>
          <p:nvPr/>
        </p:nvSpPr>
        <p:spPr>
          <a:xfrm>
            <a:off x="9450136" y="3359848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구성요소</a:t>
            </a:r>
            <a:r>
              <a:rPr lang="en-US" altLang="ko-KR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r>
              <a:rPr lang="en-US" altLang="ko-KR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84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합성 과정 공개</a:t>
            </a:r>
            <a:endParaRPr lang="en-US" sz="840" dirty="0"/>
          </a:p>
        </p:txBody>
      </p:sp>
      <p:sp>
        <p:nvSpPr>
          <p:cNvPr id="40" name="Shape 48">
            <a:extLst>
              <a:ext uri="{FF2B5EF4-FFF2-40B4-BE49-F238E27FC236}">
                <a16:creationId xmlns:a16="http://schemas.microsoft.com/office/drawing/2014/main" id="{E3E1A4C6-F571-D4C4-40C8-E46EB17FD01C}"/>
              </a:ext>
            </a:extLst>
          </p:cNvPr>
          <p:cNvSpPr/>
          <p:nvPr/>
        </p:nvSpPr>
        <p:spPr>
          <a:xfrm>
            <a:off x="5390200" y="3606736"/>
            <a:ext cx="6382512" cy="0"/>
          </a:xfrm>
          <a:prstGeom prst="line">
            <a:avLst/>
          </a:prstGeom>
          <a:noFill/>
          <a:ln w="7620">
            <a:solidFill>
              <a:srgbClr val="E9E0D7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9">
            <a:extLst>
              <a:ext uri="{FF2B5EF4-FFF2-40B4-BE49-F238E27FC236}">
                <a16:creationId xmlns:a16="http://schemas.microsoft.com/office/drawing/2014/main" id="{D8F30682-89D7-9D7B-0957-6A62C23CF80A}"/>
              </a:ext>
            </a:extLst>
          </p:cNvPr>
          <p:cNvSpPr/>
          <p:nvPr/>
        </p:nvSpPr>
        <p:spPr>
          <a:xfrm>
            <a:off x="5435920" y="3634168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산업별 월</a:t>
            </a:r>
            <a:r>
              <a:rPr lang="en-US" altLang="ko-KR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</a:t>
            </a:r>
            <a:r>
              <a:rPr lang="ko-KR" altLang="en-US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분기</a:t>
            </a:r>
            <a:r>
              <a:rPr lang="en-US" altLang="ko-KR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r>
              <a:rPr lang="ko-KR" altLang="en-US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 </a:t>
            </a:r>
            <a:r>
              <a:rPr lang="en-US" altLang="ko-KR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</a:t>
            </a:r>
            <a:r>
              <a:rPr lang="ko-KR" altLang="en-US" sz="840">
                <a:solidFill>
                  <a:srgbClr val="203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구축 가능</a:t>
            </a:r>
            <a:endParaRPr lang="en-US" sz="840" dirty="0"/>
          </a:p>
        </p:txBody>
      </p:sp>
      <p:sp>
        <p:nvSpPr>
          <p:cNvPr id="42" name="Text 50">
            <a:extLst>
              <a:ext uri="{FF2B5EF4-FFF2-40B4-BE49-F238E27FC236}">
                <a16:creationId xmlns:a16="http://schemas.microsoft.com/office/drawing/2014/main" id="{249CEF3F-6B93-C0BA-1BC9-8479FD97ECA5}"/>
              </a:ext>
            </a:extLst>
          </p:cNvPr>
          <p:cNvSpPr/>
          <p:nvPr/>
        </p:nvSpPr>
        <p:spPr>
          <a:xfrm>
            <a:off x="8608888" y="363416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40" b="1">
                <a:solidFill>
                  <a:srgbClr val="1F8A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충족</a:t>
            </a:r>
            <a:endParaRPr lang="en-US" altLang="ko-KR" sz="840" dirty="0"/>
          </a:p>
        </p:txBody>
      </p:sp>
      <p:sp>
        <p:nvSpPr>
          <p:cNvPr id="43" name="Text 51">
            <a:extLst>
              <a:ext uri="{FF2B5EF4-FFF2-40B4-BE49-F238E27FC236}">
                <a16:creationId xmlns:a16="http://schemas.microsoft.com/office/drawing/2014/main" id="{1242099D-81D7-7F27-63D6-0D27864E2376}"/>
              </a:ext>
            </a:extLst>
          </p:cNvPr>
          <p:cNvSpPr/>
          <p:nvPr/>
        </p:nvSpPr>
        <p:spPr>
          <a:xfrm>
            <a:off x="9450136" y="3666172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8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저빈도 </a:t>
            </a:r>
            <a:r>
              <a:rPr lang="en-US" altLang="ko-KR" sz="8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benchmark + </a:t>
            </a:r>
            <a:r>
              <a:rPr lang="ko-KR" altLang="en-US" sz="8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고빈도 산업지표의</a:t>
            </a:r>
            <a:br>
              <a:rPr lang="en-US" altLang="ko-KR" sz="8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</a:br>
            <a:r>
              <a:rPr lang="en-US" altLang="ko-KR" sz="800">
                <a:solidFill>
                  <a:srgbClr val="5F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 disaggregation</a:t>
            </a:r>
            <a:endParaRPr lang="en-US" sz="800" dirty="0"/>
          </a:p>
        </p:txBody>
      </p:sp>
      <p:sp>
        <p:nvSpPr>
          <p:cNvPr id="44" name="Shape 52">
            <a:extLst>
              <a:ext uri="{FF2B5EF4-FFF2-40B4-BE49-F238E27FC236}">
                <a16:creationId xmlns:a16="http://schemas.microsoft.com/office/drawing/2014/main" id="{6EF3DC52-D8FB-169F-618D-E9DE75C51698}"/>
              </a:ext>
            </a:extLst>
          </p:cNvPr>
          <p:cNvSpPr/>
          <p:nvPr/>
        </p:nvSpPr>
        <p:spPr>
          <a:xfrm>
            <a:off x="5390200" y="3881056"/>
            <a:ext cx="6382512" cy="0"/>
          </a:xfrm>
          <a:prstGeom prst="line">
            <a:avLst/>
          </a:prstGeom>
          <a:noFill/>
          <a:ln w="7620">
            <a:solidFill>
              <a:srgbClr val="E9E0D7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2191A792-9846-D3F8-02C7-1CCC3D1C2166}"/>
              </a:ext>
            </a:extLst>
          </p:cNvPr>
          <p:cNvSpPr/>
          <p:nvPr/>
        </p:nvSpPr>
        <p:spPr>
          <a:xfrm>
            <a:off x="2184082" y="4469905"/>
            <a:ext cx="2822258" cy="786384"/>
          </a:xfrm>
          <a:prstGeom prst="rect">
            <a:avLst/>
          </a:prstGeom>
          <a:solidFill>
            <a:srgbClr val="F6F1E8"/>
          </a:solidFill>
          <a:ln w="12700">
            <a:solidFill>
              <a:srgbClr val="DCD5CC"/>
            </a:solidFill>
          </a:ln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ko-KR" sz="800" b="1">
                <a:latin typeface="Noto Sans KR" panose="020B0200000000000000" pitchFamily="34" charset="-128"/>
                <a:ea typeface="Noto Sans KR" panose="020B0200000000000000" pitchFamily="34" charset="-128"/>
              </a:rPr>
              <a:t>Dodsworth, IMF (1997)</a:t>
            </a:r>
            <a:br>
              <a:rPr lang="en-US" sz="800" b="1">
                <a:latin typeface="Noto Sans KR" panose="020B0200000000000000" pitchFamily="34" charset="-128"/>
                <a:ea typeface="Noto Sans KR" panose="020B0200000000000000" pitchFamily="34" charset="-128"/>
                <a:cs typeface="Noto Sans CJK KR" pitchFamily="34" charset="-120"/>
              </a:rPr>
            </a:br>
            <a:endParaRPr lang="en-US" sz="80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ctr"/>
            <a:r>
              <a:rPr lang="ko-KR" altLang="ko-KR" sz="800" b="1">
                <a:latin typeface="Noto Sans KR" panose="020B0200000000000000" pitchFamily="34" charset="-128"/>
                <a:ea typeface="Noto Sans KR" panose="020B0200000000000000" pitchFamily="34" charset="-128"/>
              </a:rPr>
              <a:t>제조업과 서비스업을 동일한 산업 경쟁력 framework에서 비교</a:t>
            </a:r>
            <a:br>
              <a:rPr lang="ko-KR" altLang="ko-KR" sz="800" b="1">
                <a:latin typeface="Noto Sans KR" panose="020B0200000000000000" pitchFamily="34" charset="-128"/>
                <a:ea typeface="Noto Sans KR" panose="020B0200000000000000" pitchFamily="34" charset="-128"/>
              </a:rPr>
            </a:br>
            <a:r>
              <a:rPr lang="ko-KR" altLang="ko-KR" sz="800" b="1">
                <a:latin typeface="Noto Sans KR" panose="020B0200000000000000" pitchFamily="34" charset="-128"/>
                <a:ea typeface="Noto Sans KR" panose="020B0200000000000000" pitchFamily="34" charset="-128"/>
              </a:rPr>
              <a:t>→ Growth · Labor Productivity · Profitability를 공통 경쟁성과로 사용</a:t>
            </a:r>
            <a:endParaRPr lang="en-US" sz="80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D4A82050-763F-E270-3F49-19B4DC609ECB}"/>
              </a:ext>
            </a:extLst>
          </p:cNvPr>
          <p:cNvSpPr/>
          <p:nvPr/>
        </p:nvSpPr>
        <p:spPr>
          <a:xfrm>
            <a:off x="1928050" y="5810556"/>
            <a:ext cx="256032" cy="0"/>
          </a:xfrm>
          <a:prstGeom prst="line">
            <a:avLst/>
          </a:prstGeom>
          <a:noFill/>
          <a:ln w="16510">
            <a:solidFill>
              <a:srgbClr val="2F8C8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B324F8-8A99-7AA2-C14C-44F733F3FBEC}"/>
              </a:ext>
            </a:extLst>
          </p:cNvPr>
          <p:cNvSpPr txBox="1"/>
          <p:nvPr/>
        </p:nvSpPr>
        <p:spPr>
          <a:xfrm>
            <a:off x="5750883" y="4179070"/>
            <a:ext cx="575029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>
                <a:latin typeface="Noto Sans KR" panose="020B0200000000000000" pitchFamily="34" charset="-128"/>
                <a:ea typeface="Noto Sans KR" panose="020B0200000000000000" pitchFamily="34" charset="-128"/>
              </a:rPr>
              <a:t>한계</a:t>
            </a:r>
            <a:endParaRPr lang="en-US" altLang="ko-KR" sz="1600" b="1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228600" indent="-228600">
              <a:buAutoNum type="arabicPeriod"/>
            </a:pPr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ICI의 직접 실증은 제조업 중심</a:t>
            </a:r>
            <a:r>
              <a:rPr lang="en-US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</a:p>
          <a:p>
            <a:r>
              <a:rPr lang="en-US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        </a:t>
            </a:r>
            <a:r>
              <a:rPr lang="ko-KR" altLang="en-US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→ </a:t>
            </a:r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동일한 ICI scalar의 서비스업 적용 자체는 기존 문헌에서 충분히 실증되지 않음</a:t>
            </a:r>
            <a:r>
              <a:rPr lang="en-US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  </a:t>
            </a:r>
          </a:p>
          <a:p>
            <a:r>
              <a:rPr lang="en-US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2. </a:t>
            </a:r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일부 구성요소는 native monthly observation이 아니라 </a:t>
            </a:r>
            <a:endParaRPr lang="en-US" altLang="ko-KR" sz="1200" b="1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      </a:t>
            </a:r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benchmark-consistent monthly estimate</a:t>
            </a:r>
            <a:endParaRPr lang="en-US" altLang="ko-KR" sz="1200" b="1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endParaRPr lang="en-US" altLang="ko-KR" sz="1200" b="1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ko-KR" altLang="en-US" sz="1600" b="1">
                <a:latin typeface="Noto Sans KR" panose="020B0200000000000000" pitchFamily="34" charset="-128"/>
                <a:ea typeface="Noto Sans KR" panose="020B0200000000000000" pitchFamily="34" charset="-128"/>
              </a:rPr>
              <a:t>기여</a:t>
            </a:r>
            <a:endParaRPr lang="en-US" altLang="ko-KR" sz="1600" b="1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제조업·서비스업 모두에 적용되는 기존 sector competitiveness 계보를 기반으로,</a:t>
            </a:r>
            <a:b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</a:br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제조업 중심으로 사용되어 온 ICI를 U.S. private nonfarm industries로 확장하고,</a:t>
            </a:r>
            <a:b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</a:br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공식 통계와 temporal disaggregation을 이용해 </a:t>
            </a:r>
            <a:endParaRPr lang="en-US" altLang="ko-KR" sz="1200" b="1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월</a:t>
            </a:r>
            <a:r>
              <a:rPr lang="en-US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(</a:t>
            </a:r>
            <a:r>
              <a:rPr lang="ko-KR" altLang="en-US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분기</a:t>
            </a:r>
            <a:r>
              <a:rPr lang="en-US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  <a:r>
              <a:rPr lang="ko-KR" altLang="ko-KR" sz="1200" b="1">
                <a:latin typeface="Noto Sans KR" panose="020B0200000000000000" pitchFamily="34" charset="-128"/>
                <a:ea typeface="Noto Sans KR" panose="020B0200000000000000" pitchFamily="34" charset="-128"/>
              </a:rPr>
              <a:t>별 cross-sector competitiveness target으로 구축</a:t>
            </a:r>
            <a:endParaRPr lang="ko-KR" altLang="en-US" sz="1200" b="1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9">
                <a:extLst>
                  <a:ext uri="{FF2B5EF4-FFF2-40B4-BE49-F238E27FC236}">
                    <a16:creationId xmlns:a16="http://schemas.microsoft.com/office/drawing/2014/main" id="{F1EEFC14-705A-8B0D-BA26-3C4A28C1C0F9}"/>
                  </a:ext>
                </a:extLst>
              </p:cNvPr>
              <p:cNvSpPr/>
              <p:nvPr/>
            </p:nvSpPr>
            <p:spPr>
              <a:xfrm>
                <a:off x="629601" y="1378831"/>
                <a:ext cx="4463260" cy="658368"/>
              </a:xfrm>
              <a:prstGeom prst="rect">
                <a:avLst/>
              </a:prstGeom>
              <a:solidFill>
                <a:srgbClr val="E2F0EC"/>
              </a:solidFill>
              <a:ln w="12700">
                <a:solidFill>
                  <a:srgbClr val="2F8C86">
                    <a:alpha val="65000"/>
                  </a:srgbClr>
                </a:solidFill>
              </a:ln>
            </p:spPr>
            <p:txBody>
              <a:bodyPr wrap="square" lIns="1016" tIns="1016" rIns="1016" bIns="1016" rtlCol="0" anchor="ctr">
                <a:no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ko-KR" altLang="en-US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ko-KR" altLang="en-US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ko-KR" altLang="en-US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bSup>
                      <m:r>
                        <a:rPr lang="en-US" altLang="ko-KR" sz="1400" b="1" i="1" dirty="0" smtClean="0">
                          <a:solidFill>
                            <a:srgbClr val="20313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1" i="1" dirty="0" smtClean="0">
                          <a:solidFill>
                            <a:srgbClr val="20313D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f>
                        <m:fPr>
                          <m:ctrlPr>
                            <a:rPr lang="ko-KR" altLang="en-US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ko-KR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bSup>
                          <m: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p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p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p>
                              <m:r>
                                <a:rPr lang="ko-KR" altLang="en-US" sz="1400" b="1" i="1" dirty="0" smtClean="0">
                                  <a:solidFill>
                                    <a:srgbClr val="20313D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den>
                      </m:f>
                      <m:r>
                        <a:rPr lang="en-US" altLang="ko-KR" sz="1400" b="1" i="1" dirty="0" smtClean="0">
                          <a:solidFill>
                            <a:srgbClr val="20313D"/>
                          </a:solidFill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ko-KR" altLang="en-US" sz="1400" b="1" i="1" dirty="0" smtClean="0">
                          <a:solidFill>
                            <a:srgbClr val="20313D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ko-KR" sz="1400" b="1" i="1" dirty="0" smtClean="0">
                          <a:solidFill>
                            <a:srgbClr val="20313D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𝒑𝒓𝒐𝒇𝒊𝒕</m:t>
                          </m:r>
                          <m: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𝒑𝒓𝒐𝒅</m:t>
                          </m:r>
                          <m: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1" i="1" dirty="0" smtClean="0">
                              <a:solidFill>
                                <a:srgbClr val="20313D"/>
                              </a:solidFill>
                              <a:latin typeface="Cambria Math" panose="02040503050406030204" pitchFamily="18" charset="0"/>
                            </a:rPr>
                            <m:t>𝒈𝒓𝒐𝒘𝒕𝒉</m:t>
                          </m:r>
                        </m:e>
                      </m:d>
                    </m:oMath>
                  </m:oMathPara>
                </a14:m>
                <a:br>
                  <a:rPr lang="en-US" sz="1400" b="1"/>
                </a:br>
                <a:endParaRPr sz="1400" b="1"/>
              </a:p>
            </p:txBody>
          </p:sp>
        </mc:Choice>
        <mc:Fallback xmlns="">
          <p:sp>
            <p:nvSpPr>
              <p:cNvPr id="7" name="Text 9">
                <a:extLst>
                  <a:ext uri="{FF2B5EF4-FFF2-40B4-BE49-F238E27FC236}">
                    <a16:creationId xmlns:a16="http://schemas.microsoft.com/office/drawing/2014/main" id="{F1EEFC14-705A-8B0D-BA26-3C4A28C1C0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01" y="1378831"/>
                <a:ext cx="4463260" cy="6583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2F8C86">
                    <a:alpha val="65000"/>
                  </a:srgb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691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5B07FBA5-E292-8156-7F3D-3F47C024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23" y="471895"/>
            <a:ext cx="11673355" cy="613858"/>
          </a:xfrm>
        </p:spPr>
        <p:txBody>
          <a:bodyPr/>
          <a:lstStyle/>
          <a:p>
            <a:r>
              <a:rPr lang="en-US" altLang="ko-KR"/>
              <a:t>Dataset Construction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7F8356-5D48-5603-9C40-6A8BB8ECC9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5</a:t>
            </a:fld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2C984D-4F64-B48A-25DD-A9AB6F89E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572" y="971491"/>
            <a:ext cx="11673355" cy="5407665"/>
          </a:xfrm>
        </p:spPr>
        <p:txBody>
          <a:bodyPr/>
          <a:lstStyle/>
          <a:p>
            <a:r>
              <a:rPr lang="ko-KR" altLang="en-US"/>
              <a:t>산업군 노드 선정 조건</a:t>
            </a:r>
            <a:endParaRPr lang="en-US" altLang="ko-KR"/>
          </a:p>
          <a:p>
            <a:pPr lvl="1"/>
            <a:r>
              <a:rPr lang="ko-KR" altLang="ko-KR" u="sng">
                <a:solidFill>
                  <a:srgbClr val="2683C6"/>
                </a:solidFill>
              </a:rPr>
              <a:t>공식적으로 정의</a:t>
            </a:r>
            <a:r>
              <a:rPr lang="ko-KR" altLang="ko-KR">
                <a:solidFill>
                  <a:srgbClr val="2683C6"/>
                </a:solidFill>
              </a:rPr>
              <a:t>된 산업분류일</a:t>
            </a:r>
            <a:r>
              <a:rPr lang="en-US" altLang="ko-KR">
                <a:solidFill>
                  <a:srgbClr val="2683C6"/>
                </a:solidFill>
              </a:rPr>
              <a:t> </a:t>
            </a:r>
            <a:r>
              <a:rPr lang="ko-KR" altLang="en-US">
                <a:solidFill>
                  <a:srgbClr val="2683C6"/>
                </a:solidFill>
              </a:rPr>
              <a:t>것  </a:t>
            </a:r>
            <a:endParaRPr lang="en-US" altLang="ko-KR">
              <a:solidFill>
                <a:srgbClr val="2683C6"/>
              </a:solidFill>
            </a:endParaRPr>
          </a:p>
          <a:p>
            <a:pPr marL="306388" lvl="1" indent="0">
              <a:buNone/>
            </a:pPr>
            <a:r>
              <a:rPr lang="ko-KR" altLang="en-US"/>
              <a:t>→  </a:t>
            </a:r>
            <a:r>
              <a:rPr lang="ko-KR" altLang="ko-KR"/>
              <a:t>임의 clusterin</a:t>
            </a:r>
            <a:r>
              <a:rPr lang="en-US" altLang="ko-KR"/>
              <a:t>g</a:t>
            </a:r>
            <a:r>
              <a:rPr lang="ko-KR" altLang="ko-KR"/>
              <a:t>이나 연구자 임의 명칭 사용 X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산업군의 </a:t>
            </a:r>
            <a:r>
              <a:rPr lang="ko-KR" altLang="ko-KR" u="sng">
                <a:solidFill>
                  <a:srgbClr val="2683C6"/>
                </a:solidFill>
              </a:rPr>
              <a:t>분류 수준을 통일</a:t>
            </a:r>
            <a:r>
              <a:rPr lang="ko-KR" altLang="ko-KR">
                <a:solidFill>
                  <a:srgbClr val="2683C6"/>
                </a:solidFill>
              </a:rPr>
              <a:t> </a:t>
            </a:r>
            <a:r>
              <a:rPr lang="en-US" altLang="ko-KR">
                <a:solidFill>
                  <a:srgbClr val="2683C6"/>
                </a:solidFill>
              </a:rPr>
              <a:t> </a:t>
            </a:r>
          </a:p>
          <a:p>
            <a:pPr marL="306388" lvl="1" indent="0">
              <a:buNone/>
            </a:pPr>
            <a:r>
              <a:rPr lang="ko-KR" altLang="ko-KR"/>
              <a:t>→ </a:t>
            </a:r>
            <a:r>
              <a:rPr lang="en-US" altLang="ko-KR"/>
              <a:t> </a:t>
            </a:r>
            <a:r>
              <a:rPr lang="ko-KR" altLang="ko-KR"/>
              <a:t>일부 산업만 과도하게 세분화하지 않음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각 Node에서 동일 정의의 ICI를 구축할 수 있을 것</a:t>
            </a:r>
            <a:endParaRPr lang="en-US" altLang="ko-KR">
              <a:solidFill>
                <a:srgbClr val="2683C6"/>
              </a:solidFill>
            </a:endParaRPr>
          </a:p>
          <a:p>
            <a:pPr marL="306388" lvl="1" indent="0">
              <a:buNone/>
            </a:pPr>
            <a:r>
              <a:rPr lang="ko-KR" altLang="ko-KR"/>
              <a:t>→ Profitability · Productivity · Growth의 세 구성요소를 동일한 개념과 산식으로 계산 가능해야 함</a:t>
            </a:r>
            <a:endParaRPr lang="en-US" altLang="ko-KR"/>
          </a:p>
          <a:p>
            <a:pPr marL="306388" lvl="1" indent="0">
              <a:buNone/>
            </a:pPr>
            <a:r>
              <a:rPr lang="ko-KR" altLang="ko-KR"/>
              <a:t>→ 하나라도 구성 불가능한 산업은 Node에서 제외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각 node가 </a:t>
            </a:r>
            <a:r>
              <a:rPr lang="ko-KR" altLang="ko-KR" u="sng">
                <a:solidFill>
                  <a:srgbClr val="2683C6"/>
                </a:solidFill>
              </a:rPr>
              <a:t>경제적으로 구분 가능한 산업 상태</a:t>
            </a:r>
            <a:r>
              <a:rPr lang="ko-KR" altLang="ko-KR">
                <a:solidFill>
                  <a:srgbClr val="2683C6"/>
                </a:solidFill>
              </a:rPr>
              <a:t>를 나타낼 것</a:t>
            </a:r>
            <a:r>
              <a:rPr lang="en-US" altLang="ko-KR">
                <a:solidFill>
                  <a:srgbClr val="2683C6"/>
                </a:solidFill>
              </a:rPr>
              <a:t>  </a:t>
            </a:r>
          </a:p>
          <a:p>
            <a:pPr marL="306388" lvl="1" indent="0">
              <a:buNone/>
            </a:pPr>
            <a:r>
              <a:rPr lang="ko-KR" altLang="ko-KR"/>
              <a:t>→ </a:t>
            </a:r>
            <a:r>
              <a:rPr lang="en-US" altLang="ko-KR"/>
              <a:t> </a:t>
            </a:r>
            <a:r>
              <a:rPr lang="ko-KR" altLang="ko-KR"/>
              <a:t>graph edge가 산업 A ↔ 산업 B 관계로 해석 가능해야 함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기존 조건을 만족하는 범위에서 가능한 </a:t>
            </a:r>
            <a:r>
              <a:rPr lang="ko-KR" altLang="ko-KR" u="sng">
                <a:solidFill>
                  <a:srgbClr val="2683C6"/>
                </a:solidFill>
              </a:rPr>
              <a:t>가장 세분화된 산업분류</a:t>
            </a:r>
            <a:r>
              <a:rPr lang="ko-KR" altLang="ko-KR">
                <a:solidFill>
                  <a:srgbClr val="2683C6"/>
                </a:solidFill>
              </a:rPr>
              <a:t>를 사용할 것</a:t>
            </a:r>
            <a:r>
              <a:rPr lang="en-US" altLang="ko-KR">
                <a:solidFill>
                  <a:srgbClr val="2683C6"/>
                </a:solidFill>
              </a:rPr>
              <a:t> </a:t>
            </a:r>
          </a:p>
          <a:p>
            <a:pPr marL="306388" lvl="1" indent="0">
              <a:buNone/>
            </a:pPr>
            <a:r>
              <a:rPr lang="ko-KR" altLang="ko-KR"/>
              <a:t>→ </a:t>
            </a:r>
            <a:r>
              <a:rPr lang="ko-KR" altLang="ko-KR">
                <a:solidFill>
                  <a:srgbClr val="FF0000"/>
                </a:solidFill>
              </a:rPr>
              <a:t>산업 간 구조적 차이와 세부 산업 수준의 예측 활용성을 확보하기 위함</a:t>
            </a:r>
            <a:endParaRPr lang="en-US" altLang="ko-KR">
              <a:solidFill>
                <a:srgbClr val="FF0000"/>
              </a:solidFill>
            </a:endParaRPr>
          </a:p>
          <a:p>
            <a:pPr marL="306388" lvl="1" indent="0">
              <a:buNone/>
            </a:pPr>
            <a:r>
              <a:rPr lang="ko-KR" altLang="ko-KR"/>
              <a:t>→ Target 조건과 데이터 가용성을 동시에 만족하는 범위에서 최대한 세분화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  <a:p>
            <a:pPr lvl="1"/>
            <a:r>
              <a:rPr lang="ko-KR" altLang="ko-KR">
                <a:solidFill>
                  <a:srgbClr val="2683C6"/>
                </a:solidFill>
              </a:rPr>
              <a:t>분석기간 동안 산업분류의 정의가 일관되게 유지될 것</a:t>
            </a:r>
            <a:endParaRPr lang="en-US" altLang="ko-KR">
              <a:solidFill>
                <a:srgbClr val="2683C6"/>
              </a:solidFill>
            </a:endParaRPr>
          </a:p>
          <a:p>
            <a:pPr marL="306388" lvl="1" indent="0">
              <a:buNone/>
            </a:pPr>
            <a:r>
              <a:rPr lang="ko-KR" altLang="ko-KR"/>
              <a:t>→ NAICS revision 간 산업 범위·분류 변경 여부를 확인하고,</a:t>
            </a:r>
            <a:r>
              <a:rPr lang="en-US" altLang="ko-KR"/>
              <a:t> </a:t>
            </a:r>
            <a:r>
              <a:rPr lang="ko-KR" altLang="ko-KR"/>
              <a:t>변경된 경우 공식 historical reconstruction 또는 crosswalk로 동일한 산업 범위를 구성</a:t>
            </a:r>
            <a:r>
              <a:rPr lang="en-US" altLang="ko-KR"/>
              <a:t>    </a:t>
            </a:r>
            <a:br>
              <a:rPr lang="en-US" altLang="ko-KR"/>
            </a:br>
            <a:r>
              <a:rPr lang="en-US" altLang="ko-KR"/>
              <a:t>     </a:t>
            </a:r>
            <a:r>
              <a:rPr lang="ko-KR" altLang="ko-KR"/>
              <a:t>할 수 있는지 검증</a:t>
            </a:r>
            <a:endParaRPr lang="en-US" altLang="ko-KR"/>
          </a:p>
          <a:p>
            <a:pPr marL="306388" lvl="1" indent="0">
              <a:buNone/>
            </a:pPr>
            <a:endParaRPr lang="en-US" altLang="ko-KR"/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985BB8AD-FE55-EB8C-C15A-4869E20006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1927" y="251701"/>
            <a:ext cx="1566104" cy="235124"/>
          </a:xfrm>
        </p:spPr>
        <p:txBody>
          <a:bodyPr/>
          <a:lstStyle/>
          <a:p>
            <a:r>
              <a:rPr lang="en-US" altLang="ko-KR"/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91451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4C365-8FFD-99EF-3435-FEE0C138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89EE2018-5188-2D02-1E7A-76D7CC17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23" y="471895"/>
            <a:ext cx="11673355" cy="613858"/>
          </a:xfrm>
        </p:spPr>
        <p:txBody>
          <a:bodyPr/>
          <a:lstStyle/>
          <a:p>
            <a:r>
              <a:rPr lang="en-US" altLang="ko-KR"/>
              <a:t>Dataset Construction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3C71E5-E3FD-4243-B8D4-29BCB60DAC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6</a:t>
            </a:fld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12DFF4-89C2-C9EC-560C-D2BD44D5D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22" y="978440"/>
            <a:ext cx="11673355" cy="5407665"/>
          </a:xfrm>
        </p:spPr>
        <p:txBody>
          <a:bodyPr/>
          <a:lstStyle/>
          <a:p>
            <a:r>
              <a:rPr lang="ko-KR" altLang="en-US"/>
              <a:t>노드 유니버스</a:t>
            </a:r>
            <a:endParaRPr lang="en-US" altLang="ko-KR" sz="1400"/>
          </a:p>
          <a:p>
            <a:endParaRPr lang="en-US" altLang="ko-KR" sz="1400"/>
          </a:p>
          <a:p>
            <a:endParaRPr lang="en-US" altLang="ko-KR"/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AC2CE0CB-AA18-586B-6DA0-6B23D1510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1927" y="251701"/>
            <a:ext cx="1566104" cy="235124"/>
          </a:xfrm>
        </p:spPr>
        <p:txBody>
          <a:bodyPr/>
          <a:lstStyle/>
          <a:p>
            <a:r>
              <a:rPr lang="en-US" altLang="ko-KR"/>
              <a:t>2026.09</a:t>
            </a:r>
          </a:p>
        </p:txBody>
      </p:sp>
      <p:sp>
        <p:nvSpPr>
          <p:cNvPr id="107" name="Rounded Rectangle 8">
            <a:extLst>
              <a:ext uri="{FF2B5EF4-FFF2-40B4-BE49-F238E27FC236}">
                <a16:creationId xmlns:a16="http://schemas.microsoft.com/office/drawing/2014/main" id="{A13EB758-A8E7-EB0D-115C-981924D5B741}"/>
              </a:ext>
            </a:extLst>
          </p:cNvPr>
          <p:cNvSpPr/>
          <p:nvPr/>
        </p:nvSpPr>
        <p:spPr>
          <a:xfrm>
            <a:off x="259320" y="1368523"/>
            <a:ext cx="7214616" cy="850392"/>
          </a:xfrm>
          <a:prstGeom prst="roundRect">
            <a:avLst/>
          </a:prstGeom>
          <a:solidFill>
            <a:srgbClr val="F0F7F5"/>
          </a:solidFill>
          <a:ln w="12700">
            <a:solidFill>
              <a:srgbClr val="48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8" name="TextBox 9">
            <a:extLst>
              <a:ext uri="{FF2B5EF4-FFF2-40B4-BE49-F238E27FC236}">
                <a16:creationId xmlns:a16="http://schemas.microsoft.com/office/drawing/2014/main" id="{3F7B2FCC-9439-4792-7BF1-3A1E0B27FF4D}"/>
              </a:ext>
            </a:extLst>
          </p:cNvPr>
          <p:cNvSpPr txBox="1"/>
          <p:nvPr/>
        </p:nvSpPr>
        <p:spPr>
          <a:xfrm>
            <a:off x="442200" y="1523971"/>
            <a:ext cx="2286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2B304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최대 공통 세분화</a:t>
            </a:r>
          </a:p>
        </p:txBody>
      </p:sp>
      <p:sp>
        <p:nvSpPr>
          <p:cNvPr id="109" name="TextBox 10">
            <a:extLst>
              <a:ext uri="{FF2B5EF4-FFF2-40B4-BE49-F238E27FC236}">
                <a16:creationId xmlns:a16="http://schemas.microsoft.com/office/drawing/2014/main" id="{9C9F0966-71C5-2C3F-4624-227FB7C3FFFA}"/>
              </a:ext>
            </a:extLst>
          </p:cNvPr>
          <p:cNvSpPr txBox="1"/>
          <p:nvPr/>
        </p:nvSpPr>
        <p:spPr>
          <a:xfrm>
            <a:off x="1365816" y="1485544"/>
            <a:ext cx="26863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BEA 71</a:t>
            </a:r>
            <a:r>
              <a:rPr lang="en-US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(</a:t>
            </a:r>
            <a:r>
              <a:rPr lang="ko-KR" altLang="en-US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미 경제분석국</a:t>
            </a:r>
            <a:r>
              <a:rPr lang="en-US" altLang="ko-KR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  <a:endParaRPr b="1">
              <a:solidFill>
                <a:srgbClr val="489D8F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0" name="TextBox 11">
            <a:extLst>
              <a:ext uri="{FF2B5EF4-FFF2-40B4-BE49-F238E27FC236}">
                <a16:creationId xmlns:a16="http://schemas.microsoft.com/office/drawing/2014/main" id="{2272593B-DD74-4669-DEA3-CC1EEC3508DB}"/>
              </a:ext>
            </a:extLst>
          </p:cNvPr>
          <p:cNvSpPr txBox="1"/>
          <p:nvPr/>
        </p:nvSpPr>
        <p:spPr>
          <a:xfrm>
            <a:off x="3843768" y="1523971"/>
            <a:ext cx="384048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00" b="1">
                <a:solidFill>
                  <a:srgbClr val="6A6E7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→</a:t>
            </a:r>
          </a:p>
        </p:txBody>
      </p:sp>
      <p:sp>
        <p:nvSpPr>
          <p:cNvPr id="111" name="TextBox 12">
            <a:extLst>
              <a:ext uri="{FF2B5EF4-FFF2-40B4-BE49-F238E27FC236}">
                <a16:creationId xmlns:a16="http://schemas.microsoft.com/office/drawing/2014/main" id="{548E0678-A8FA-E0B1-D4FF-EF4586ED265A}"/>
              </a:ext>
            </a:extLst>
          </p:cNvPr>
          <p:cNvSpPr txBox="1"/>
          <p:nvPr/>
        </p:nvSpPr>
        <p:spPr>
          <a:xfrm>
            <a:off x="4095629" y="1508694"/>
            <a:ext cx="141732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b="1">
                <a:solidFill>
                  <a:srgbClr val="2B304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56 Nodes</a:t>
            </a:r>
          </a:p>
        </p:txBody>
      </p:sp>
      <p:sp>
        <p:nvSpPr>
          <p:cNvPr id="112" name="TextBox 13">
            <a:extLst>
              <a:ext uri="{FF2B5EF4-FFF2-40B4-BE49-F238E27FC236}">
                <a16:creationId xmlns:a16="http://schemas.microsoft.com/office/drawing/2014/main" id="{9ECF4078-B985-670B-C22F-413D57AB1524}"/>
              </a:ext>
            </a:extLst>
          </p:cNvPr>
          <p:cNvSpPr txBox="1"/>
          <p:nvPr/>
        </p:nvSpPr>
        <p:spPr>
          <a:xfrm>
            <a:off x="5437485" y="1497118"/>
            <a:ext cx="1444752" cy="2708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80" b="0">
                <a:solidFill>
                  <a:srgbClr val="6A6E7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Agri/Gov 제외
Info 통합</a:t>
            </a:r>
          </a:p>
        </p:txBody>
      </p:sp>
      <p:sp>
        <p:nvSpPr>
          <p:cNvPr id="113" name="TextBox 14">
            <a:extLst>
              <a:ext uri="{FF2B5EF4-FFF2-40B4-BE49-F238E27FC236}">
                <a16:creationId xmlns:a16="http://schemas.microsoft.com/office/drawing/2014/main" id="{526F0BDC-17FF-E2CC-DFF7-011298C28E22}"/>
              </a:ext>
            </a:extLst>
          </p:cNvPr>
          <p:cNvSpPr txBox="1"/>
          <p:nvPr/>
        </p:nvSpPr>
        <p:spPr>
          <a:xfrm>
            <a:off x="442200" y="1880587"/>
            <a:ext cx="6656832" cy="1431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30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BEA 71-industry quarterly detail을 공통 benchmark로 사용</a:t>
            </a:r>
          </a:p>
        </p:txBody>
      </p:sp>
      <p:sp>
        <p:nvSpPr>
          <p:cNvPr id="114" name="Rectangle 15">
            <a:extLst>
              <a:ext uri="{FF2B5EF4-FFF2-40B4-BE49-F238E27FC236}">
                <a16:creationId xmlns:a16="http://schemas.microsoft.com/office/drawing/2014/main" id="{4CA27BEE-0B6C-5C62-0E53-1BF7ADEAED28}"/>
              </a:ext>
            </a:extLst>
          </p:cNvPr>
          <p:cNvSpPr/>
          <p:nvPr/>
        </p:nvSpPr>
        <p:spPr>
          <a:xfrm>
            <a:off x="259320" y="2365219"/>
            <a:ext cx="7214616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5" name="TextBox 16">
            <a:extLst>
              <a:ext uri="{FF2B5EF4-FFF2-40B4-BE49-F238E27FC236}">
                <a16:creationId xmlns:a16="http://schemas.microsoft.com/office/drawing/2014/main" id="{80CD1933-53B2-79CF-5EC7-5D077A5191D2}"/>
              </a:ext>
            </a:extLst>
          </p:cNvPr>
          <p:cNvSpPr txBox="1"/>
          <p:nvPr/>
        </p:nvSpPr>
        <p:spPr>
          <a:xfrm>
            <a:off x="442200" y="2484091"/>
            <a:ext cx="173736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60" b="1">
                <a:solidFill>
                  <a:srgbClr val="2B304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왜 71-industry인가?</a:t>
            </a:r>
          </a:p>
        </p:txBody>
      </p:sp>
      <p:sp>
        <p:nvSpPr>
          <p:cNvPr id="116" name="TextBox 17">
            <a:extLst>
              <a:ext uri="{FF2B5EF4-FFF2-40B4-BE49-F238E27FC236}">
                <a16:creationId xmlns:a16="http://schemas.microsoft.com/office/drawing/2014/main" id="{FF91D5B6-D194-30EB-ADCE-2833296AC0C8}"/>
              </a:ext>
            </a:extLst>
          </p:cNvPr>
          <p:cNvSpPr txBox="1"/>
          <p:nvPr/>
        </p:nvSpPr>
        <p:spPr>
          <a:xfrm>
            <a:off x="442200" y="2776699"/>
            <a:ext cx="6748272" cy="410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890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138-industry 수준은 주로 → 전 Node 공통 monthly reconstruction에 불리
• 71-industry는 quarterly V</a:t>
            </a:r>
            <a:r>
              <a:rPr lang="en-US" altLang="ko-KR" sz="89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annual benchmark </a:t>
            </a:r>
            <a:r>
              <a:rPr sz="890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alue Added·Gross Output + 월별 산업지표(CES·G.17·M3·QSS 등) 결합 가능
• Information 세부 분류는 revision 안정성 문제로 51 전체 통합 → 최종 56 Node</a:t>
            </a:r>
          </a:p>
        </p:txBody>
      </p:sp>
      <p:sp>
        <p:nvSpPr>
          <p:cNvPr id="117" name="Rectangle 18">
            <a:extLst>
              <a:ext uri="{FF2B5EF4-FFF2-40B4-BE49-F238E27FC236}">
                <a16:creationId xmlns:a16="http://schemas.microsoft.com/office/drawing/2014/main" id="{2C14CCA8-2CA0-6D36-F839-66C69134E4FF}"/>
              </a:ext>
            </a:extLst>
          </p:cNvPr>
          <p:cNvSpPr/>
          <p:nvPr/>
        </p:nvSpPr>
        <p:spPr>
          <a:xfrm>
            <a:off x="259320" y="3614690"/>
            <a:ext cx="11420856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8" name="TextBox 19">
            <a:extLst>
              <a:ext uri="{FF2B5EF4-FFF2-40B4-BE49-F238E27FC236}">
                <a16:creationId xmlns:a16="http://schemas.microsoft.com/office/drawing/2014/main" id="{8DF11365-3ACC-E426-5C94-B4B905F913C0}"/>
              </a:ext>
            </a:extLst>
          </p:cNvPr>
          <p:cNvSpPr txBox="1"/>
          <p:nvPr/>
        </p:nvSpPr>
        <p:spPr>
          <a:xfrm>
            <a:off x="442200" y="3742706"/>
            <a:ext cx="4642756" cy="1892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30" b="1">
                <a:solidFill>
                  <a:srgbClr val="2B304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최종 Node 구성 (56)</a:t>
            </a:r>
            <a:r>
              <a:rPr lang="en-US" sz="1230" b="1">
                <a:solidFill>
                  <a:srgbClr val="2B304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-&gt; </a:t>
            </a:r>
            <a:r>
              <a:rPr lang="ko-KR" altLang="en-US" sz="1230" b="1">
                <a:solidFill>
                  <a:srgbClr val="2B304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정보산업 리비전 조건 없애고 </a:t>
            </a:r>
            <a:r>
              <a:rPr lang="en-US" sz="1230" b="1">
                <a:solidFill>
                  <a:srgbClr val="2B304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59</a:t>
            </a:r>
            <a:r>
              <a:rPr lang="ko-KR" altLang="en-US" sz="1230" b="1">
                <a:solidFill>
                  <a:srgbClr val="2B304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개로 수정됨</a:t>
            </a:r>
            <a:endParaRPr sz="1230" b="1">
              <a:solidFill>
                <a:srgbClr val="2B3044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9" name="TextBox 20">
            <a:extLst>
              <a:ext uri="{FF2B5EF4-FFF2-40B4-BE49-F238E27FC236}">
                <a16:creationId xmlns:a16="http://schemas.microsoft.com/office/drawing/2014/main" id="{299E4B4C-2082-5108-F8B7-1AE7B66B7642}"/>
              </a:ext>
            </a:extLst>
          </p:cNvPr>
          <p:cNvSpPr txBox="1"/>
          <p:nvPr/>
        </p:nvSpPr>
        <p:spPr>
          <a:xfrm>
            <a:off x="8150592" y="3760994"/>
            <a:ext cx="327355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850" b="0">
                <a:solidFill>
                  <a:srgbClr val="6A6E7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BEA 71-industry ↔ NAICS 공식 correspondence</a:t>
            </a:r>
          </a:p>
        </p:txBody>
      </p:sp>
      <p:sp>
        <p:nvSpPr>
          <p:cNvPr id="120" name="TextBox 21">
            <a:extLst>
              <a:ext uri="{FF2B5EF4-FFF2-40B4-BE49-F238E27FC236}">
                <a16:creationId xmlns:a16="http://schemas.microsoft.com/office/drawing/2014/main" id="{B0CA7DE1-8640-E556-93CF-E4A830D7228D}"/>
              </a:ext>
            </a:extLst>
          </p:cNvPr>
          <p:cNvSpPr txBox="1"/>
          <p:nvPr/>
        </p:nvSpPr>
        <p:spPr>
          <a:xfrm>
            <a:off x="460488" y="4090178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Mining</a:t>
            </a:r>
          </a:p>
        </p:txBody>
      </p:sp>
      <p:sp>
        <p:nvSpPr>
          <p:cNvPr id="121" name="TextBox 22">
            <a:extLst>
              <a:ext uri="{FF2B5EF4-FFF2-40B4-BE49-F238E27FC236}">
                <a16:creationId xmlns:a16="http://schemas.microsoft.com/office/drawing/2014/main" id="{F2C4B8DF-235D-44F8-53FE-1C11E504C474}"/>
              </a:ext>
            </a:extLst>
          </p:cNvPr>
          <p:cNvSpPr txBox="1"/>
          <p:nvPr/>
        </p:nvSpPr>
        <p:spPr>
          <a:xfrm>
            <a:off x="460488" y="4263914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211 Oil &amp; Gas · 212 Mining · 213 Support</a:t>
            </a:r>
          </a:p>
        </p:txBody>
      </p:sp>
      <p:sp>
        <p:nvSpPr>
          <p:cNvPr id="122" name="TextBox 23">
            <a:extLst>
              <a:ext uri="{FF2B5EF4-FFF2-40B4-BE49-F238E27FC236}">
                <a16:creationId xmlns:a16="http://schemas.microsoft.com/office/drawing/2014/main" id="{092B685B-D929-42F1-E041-8EB3DA83D7AD}"/>
              </a:ext>
            </a:extLst>
          </p:cNvPr>
          <p:cNvSpPr txBox="1"/>
          <p:nvPr/>
        </p:nvSpPr>
        <p:spPr>
          <a:xfrm>
            <a:off x="460488" y="4574810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Utilities / Construction</a:t>
            </a:r>
          </a:p>
        </p:txBody>
      </p:sp>
      <p:sp>
        <p:nvSpPr>
          <p:cNvPr id="123" name="TextBox 24">
            <a:extLst>
              <a:ext uri="{FF2B5EF4-FFF2-40B4-BE49-F238E27FC236}">
                <a16:creationId xmlns:a16="http://schemas.microsoft.com/office/drawing/2014/main" id="{F2D615DF-07DF-BEB0-13C0-3E5A7CFC4909}"/>
              </a:ext>
            </a:extLst>
          </p:cNvPr>
          <p:cNvSpPr txBox="1"/>
          <p:nvPr/>
        </p:nvSpPr>
        <p:spPr>
          <a:xfrm>
            <a:off x="460488" y="4748546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22 Utilities · 23 Construction</a:t>
            </a:r>
          </a:p>
        </p:txBody>
      </p:sp>
      <p:sp>
        <p:nvSpPr>
          <p:cNvPr id="124" name="TextBox 25">
            <a:extLst>
              <a:ext uri="{FF2B5EF4-FFF2-40B4-BE49-F238E27FC236}">
                <a16:creationId xmlns:a16="http://schemas.microsoft.com/office/drawing/2014/main" id="{29D972FF-7D8A-97A1-5290-9FE48EC9D904}"/>
              </a:ext>
            </a:extLst>
          </p:cNvPr>
          <p:cNvSpPr txBox="1"/>
          <p:nvPr/>
        </p:nvSpPr>
        <p:spPr>
          <a:xfrm>
            <a:off x="460488" y="5059442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Manufacturing A</a:t>
            </a:r>
          </a:p>
        </p:txBody>
      </p:sp>
      <p:sp>
        <p:nvSpPr>
          <p:cNvPr id="125" name="TextBox 26">
            <a:extLst>
              <a:ext uri="{FF2B5EF4-FFF2-40B4-BE49-F238E27FC236}">
                <a16:creationId xmlns:a16="http://schemas.microsoft.com/office/drawing/2014/main" id="{763EA440-9B4F-1497-1A63-DE6AD5E0990F}"/>
              </a:ext>
            </a:extLst>
          </p:cNvPr>
          <p:cNvSpPr txBox="1"/>
          <p:nvPr/>
        </p:nvSpPr>
        <p:spPr>
          <a:xfrm>
            <a:off x="460488" y="5233178"/>
            <a:ext cx="2542032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321 Wood · 327 Nonmetallic · 331 Primary Metals · 332 Fabricated Metals · 333 Machinery</a:t>
            </a:r>
          </a:p>
        </p:txBody>
      </p:sp>
      <p:sp>
        <p:nvSpPr>
          <p:cNvPr id="126" name="TextBox 27">
            <a:extLst>
              <a:ext uri="{FF2B5EF4-FFF2-40B4-BE49-F238E27FC236}">
                <a16:creationId xmlns:a16="http://schemas.microsoft.com/office/drawing/2014/main" id="{C850BCBE-3813-4D3F-EDB8-44809E8333C5}"/>
              </a:ext>
            </a:extLst>
          </p:cNvPr>
          <p:cNvSpPr txBox="1"/>
          <p:nvPr/>
        </p:nvSpPr>
        <p:spPr>
          <a:xfrm>
            <a:off x="460488" y="5608082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Manufacturing B</a:t>
            </a:r>
          </a:p>
        </p:txBody>
      </p:sp>
      <p:sp>
        <p:nvSpPr>
          <p:cNvPr id="127" name="TextBox 28">
            <a:extLst>
              <a:ext uri="{FF2B5EF4-FFF2-40B4-BE49-F238E27FC236}">
                <a16:creationId xmlns:a16="http://schemas.microsoft.com/office/drawing/2014/main" id="{53FC4B66-66DD-927A-ADCE-BD1090E52F7F}"/>
              </a:ext>
            </a:extLst>
          </p:cNvPr>
          <p:cNvSpPr txBox="1"/>
          <p:nvPr/>
        </p:nvSpPr>
        <p:spPr>
          <a:xfrm>
            <a:off x="460488" y="5781818"/>
            <a:ext cx="2542032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334 Computer/Electronic · 335 Electrical Equip. · 3361–3 Motor Vehicles · 3364–6,9 Other Transport Equip.</a:t>
            </a:r>
          </a:p>
        </p:txBody>
      </p:sp>
      <p:sp>
        <p:nvSpPr>
          <p:cNvPr id="128" name="TextBox 29">
            <a:extLst>
              <a:ext uri="{FF2B5EF4-FFF2-40B4-BE49-F238E27FC236}">
                <a16:creationId xmlns:a16="http://schemas.microsoft.com/office/drawing/2014/main" id="{C265C392-DA45-8092-03DE-82FD050F34F9}"/>
              </a:ext>
            </a:extLst>
          </p:cNvPr>
          <p:cNvSpPr txBox="1"/>
          <p:nvPr/>
        </p:nvSpPr>
        <p:spPr>
          <a:xfrm>
            <a:off x="460488" y="6156722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Manufacturing C</a:t>
            </a:r>
          </a:p>
        </p:txBody>
      </p:sp>
      <p:sp>
        <p:nvSpPr>
          <p:cNvPr id="129" name="TextBox 30">
            <a:extLst>
              <a:ext uri="{FF2B5EF4-FFF2-40B4-BE49-F238E27FC236}">
                <a16:creationId xmlns:a16="http://schemas.microsoft.com/office/drawing/2014/main" id="{970D26C5-38ED-374D-A0A1-F0FB947BD4A4}"/>
              </a:ext>
            </a:extLst>
          </p:cNvPr>
          <p:cNvSpPr txBox="1"/>
          <p:nvPr/>
        </p:nvSpPr>
        <p:spPr>
          <a:xfrm>
            <a:off x="460488" y="6330458"/>
            <a:ext cx="2542032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337 Furniture · 339 Misc. · 311–12 Food/Beverage/Tobacco · 313–14 Textiles · 315–16 Apparel/Leather</a:t>
            </a:r>
          </a:p>
        </p:txBody>
      </p:sp>
      <p:sp>
        <p:nvSpPr>
          <p:cNvPr id="130" name="TextBox 31">
            <a:extLst>
              <a:ext uri="{FF2B5EF4-FFF2-40B4-BE49-F238E27FC236}">
                <a16:creationId xmlns:a16="http://schemas.microsoft.com/office/drawing/2014/main" id="{7E4FB700-4F71-4ED4-DABE-784155E8FACC}"/>
              </a:ext>
            </a:extLst>
          </p:cNvPr>
          <p:cNvSpPr txBox="1"/>
          <p:nvPr/>
        </p:nvSpPr>
        <p:spPr>
          <a:xfrm>
            <a:off x="3276840" y="4090178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Manufacturing D</a:t>
            </a:r>
          </a:p>
        </p:txBody>
      </p:sp>
      <p:sp>
        <p:nvSpPr>
          <p:cNvPr id="131" name="TextBox 32">
            <a:extLst>
              <a:ext uri="{FF2B5EF4-FFF2-40B4-BE49-F238E27FC236}">
                <a16:creationId xmlns:a16="http://schemas.microsoft.com/office/drawing/2014/main" id="{D6AB15A4-7BCA-7E1E-2A20-12354A91A41D}"/>
              </a:ext>
            </a:extLst>
          </p:cNvPr>
          <p:cNvSpPr txBox="1"/>
          <p:nvPr/>
        </p:nvSpPr>
        <p:spPr>
          <a:xfrm>
            <a:off x="3276840" y="4263914"/>
            <a:ext cx="2542032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322 Paper · 323 Printing · 324 Petroleum/Coal · 325 Chemicals · 326 Plastics/Rubber</a:t>
            </a:r>
          </a:p>
        </p:txBody>
      </p:sp>
      <p:sp>
        <p:nvSpPr>
          <p:cNvPr id="132" name="TextBox 33">
            <a:extLst>
              <a:ext uri="{FF2B5EF4-FFF2-40B4-BE49-F238E27FC236}">
                <a16:creationId xmlns:a16="http://schemas.microsoft.com/office/drawing/2014/main" id="{825B40D1-1D36-DF00-9D5F-DBDC009D3F93}"/>
              </a:ext>
            </a:extLst>
          </p:cNvPr>
          <p:cNvSpPr txBox="1"/>
          <p:nvPr/>
        </p:nvSpPr>
        <p:spPr>
          <a:xfrm>
            <a:off x="3276840" y="4638818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Wholesale / Retail</a:t>
            </a:r>
          </a:p>
        </p:txBody>
      </p:sp>
      <p:sp>
        <p:nvSpPr>
          <p:cNvPr id="133" name="TextBox 34">
            <a:extLst>
              <a:ext uri="{FF2B5EF4-FFF2-40B4-BE49-F238E27FC236}">
                <a16:creationId xmlns:a16="http://schemas.microsoft.com/office/drawing/2014/main" id="{FF8DD738-386F-1A89-9D1E-8BD449431001}"/>
              </a:ext>
            </a:extLst>
          </p:cNvPr>
          <p:cNvSpPr txBox="1"/>
          <p:nvPr/>
        </p:nvSpPr>
        <p:spPr>
          <a:xfrm>
            <a:off x="3276840" y="4812554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42 Wholesale · 44–45 Retail</a:t>
            </a:r>
          </a:p>
        </p:txBody>
      </p:sp>
      <p:sp>
        <p:nvSpPr>
          <p:cNvPr id="134" name="TextBox 35">
            <a:extLst>
              <a:ext uri="{FF2B5EF4-FFF2-40B4-BE49-F238E27FC236}">
                <a16:creationId xmlns:a16="http://schemas.microsoft.com/office/drawing/2014/main" id="{681E67D2-4973-5AB2-C863-0D2B0CB9A723}"/>
              </a:ext>
            </a:extLst>
          </p:cNvPr>
          <p:cNvSpPr txBox="1"/>
          <p:nvPr/>
        </p:nvSpPr>
        <p:spPr>
          <a:xfrm>
            <a:off x="3276840" y="5123450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Transportation A</a:t>
            </a:r>
          </a:p>
        </p:txBody>
      </p:sp>
      <p:sp>
        <p:nvSpPr>
          <p:cNvPr id="135" name="TextBox 36">
            <a:extLst>
              <a:ext uri="{FF2B5EF4-FFF2-40B4-BE49-F238E27FC236}">
                <a16:creationId xmlns:a16="http://schemas.microsoft.com/office/drawing/2014/main" id="{207D8005-546C-F9D1-1B0C-F92CF6E08C70}"/>
              </a:ext>
            </a:extLst>
          </p:cNvPr>
          <p:cNvSpPr txBox="1"/>
          <p:nvPr/>
        </p:nvSpPr>
        <p:spPr>
          <a:xfrm>
            <a:off x="3276840" y="5297186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481 Air · 482 Rail · 483 Water · 484 Truck</a:t>
            </a:r>
          </a:p>
        </p:txBody>
      </p:sp>
      <p:sp>
        <p:nvSpPr>
          <p:cNvPr id="136" name="TextBox 37">
            <a:extLst>
              <a:ext uri="{FF2B5EF4-FFF2-40B4-BE49-F238E27FC236}">
                <a16:creationId xmlns:a16="http://schemas.microsoft.com/office/drawing/2014/main" id="{AEFE42CA-0802-CA46-3A85-C90010FA3C73}"/>
              </a:ext>
            </a:extLst>
          </p:cNvPr>
          <p:cNvSpPr txBox="1"/>
          <p:nvPr/>
        </p:nvSpPr>
        <p:spPr>
          <a:xfrm>
            <a:off x="3276840" y="5608082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Transportation B</a:t>
            </a:r>
          </a:p>
        </p:txBody>
      </p:sp>
      <p:sp>
        <p:nvSpPr>
          <p:cNvPr id="137" name="TextBox 38">
            <a:extLst>
              <a:ext uri="{FF2B5EF4-FFF2-40B4-BE49-F238E27FC236}">
                <a16:creationId xmlns:a16="http://schemas.microsoft.com/office/drawing/2014/main" id="{84CD20D3-793A-120C-DCFE-923573B112C2}"/>
              </a:ext>
            </a:extLst>
          </p:cNvPr>
          <p:cNvSpPr txBox="1"/>
          <p:nvPr/>
        </p:nvSpPr>
        <p:spPr>
          <a:xfrm>
            <a:off x="3276840" y="5781818"/>
            <a:ext cx="2542032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485 Transit · 486 Pipeline · 487–488,492 Other/Support · 493 Warehousing</a:t>
            </a:r>
          </a:p>
        </p:txBody>
      </p:sp>
      <p:sp>
        <p:nvSpPr>
          <p:cNvPr id="138" name="TextBox 39">
            <a:extLst>
              <a:ext uri="{FF2B5EF4-FFF2-40B4-BE49-F238E27FC236}">
                <a16:creationId xmlns:a16="http://schemas.microsoft.com/office/drawing/2014/main" id="{58A06F4F-3394-F375-81FE-EFABC5044406}"/>
              </a:ext>
            </a:extLst>
          </p:cNvPr>
          <p:cNvSpPr txBox="1"/>
          <p:nvPr/>
        </p:nvSpPr>
        <p:spPr>
          <a:xfrm>
            <a:off x="3276840" y="6092714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Information</a:t>
            </a:r>
          </a:p>
        </p:txBody>
      </p:sp>
      <p:sp>
        <p:nvSpPr>
          <p:cNvPr id="139" name="TextBox 40">
            <a:extLst>
              <a:ext uri="{FF2B5EF4-FFF2-40B4-BE49-F238E27FC236}">
                <a16:creationId xmlns:a16="http://schemas.microsoft.com/office/drawing/2014/main" id="{4CF878F7-EFF1-AF8D-1CF2-0D8D2925BA3D}"/>
              </a:ext>
            </a:extLst>
          </p:cNvPr>
          <p:cNvSpPr txBox="1"/>
          <p:nvPr/>
        </p:nvSpPr>
        <p:spPr>
          <a:xfrm>
            <a:off x="3276840" y="6266450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51 Information (NAICS revision 일관성 확보)</a:t>
            </a:r>
          </a:p>
        </p:txBody>
      </p:sp>
      <p:sp>
        <p:nvSpPr>
          <p:cNvPr id="140" name="TextBox 41">
            <a:extLst>
              <a:ext uri="{FF2B5EF4-FFF2-40B4-BE49-F238E27FC236}">
                <a16:creationId xmlns:a16="http://schemas.microsoft.com/office/drawing/2014/main" id="{6866C289-8CE0-E8AB-AF2A-4775225ACD8A}"/>
              </a:ext>
            </a:extLst>
          </p:cNvPr>
          <p:cNvSpPr txBox="1"/>
          <p:nvPr/>
        </p:nvSpPr>
        <p:spPr>
          <a:xfrm>
            <a:off x="6093192" y="4090178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Finance</a:t>
            </a:r>
          </a:p>
        </p:txBody>
      </p:sp>
      <p:sp>
        <p:nvSpPr>
          <p:cNvPr id="141" name="TextBox 42">
            <a:extLst>
              <a:ext uri="{FF2B5EF4-FFF2-40B4-BE49-F238E27FC236}">
                <a16:creationId xmlns:a16="http://schemas.microsoft.com/office/drawing/2014/main" id="{343B9424-BBF7-5F49-650D-3558FC7F4555}"/>
              </a:ext>
            </a:extLst>
          </p:cNvPr>
          <p:cNvSpPr txBox="1"/>
          <p:nvPr/>
        </p:nvSpPr>
        <p:spPr>
          <a:xfrm>
            <a:off x="6093192" y="4263914"/>
            <a:ext cx="2542032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521–522 Credit Intermediation · 523 Securities · 524 Insurance · 525 Funds/Trusts</a:t>
            </a:r>
          </a:p>
        </p:txBody>
      </p:sp>
      <p:sp>
        <p:nvSpPr>
          <p:cNvPr id="142" name="TextBox 43">
            <a:extLst>
              <a:ext uri="{FF2B5EF4-FFF2-40B4-BE49-F238E27FC236}">
                <a16:creationId xmlns:a16="http://schemas.microsoft.com/office/drawing/2014/main" id="{37F92AD4-6ED2-CF2C-BA46-571A2F47CB64}"/>
              </a:ext>
            </a:extLst>
          </p:cNvPr>
          <p:cNvSpPr txBox="1"/>
          <p:nvPr/>
        </p:nvSpPr>
        <p:spPr>
          <a:xfrm>
            <a:off x="6093192" y="4638818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Real Estate / Rental</a:t>
            </a:r>
          </a:p>
        </p:txBody>
      </p:sp>
      <p:sp>
        <p:nvSpPr>
          <p:cNvPr id="143" name="TextBox 44">
            <a:extLst>
              <a:ext uri="{FF2B5EF4-FFF2-40B4-BE49-F238E27FC236}">
                <a16:creationId xmlns:a16="http://schemas.microsoft.com/office/drawing/2014/main" id="{20DC8824-B143-378C-EBDA-4FA930CAFA5D}"/>
              </a:ext>
            </a:extLst>
          </p:cNvPr>
          <p:cNvSpPr txBox="1"/>
          <p:nvPr/>
        </p:nvSpPr>
        <p:spPr>
          <a:xfrm>
            <a:off x="6093192" y="4812554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531 Real Estate · 532–533 Rental/Leasing &amp; Intangibles</a:t>
            </a:r>
          </a:p>
        </p:txBody>
      </p:sp>
      <p:sp>
        <p:nvSpPr>
          <p:cNvPr id="144" name="TextBox 45">
            <a:extLst>
              <a:ext uri="{FF2B5EF4-FFF2-40B4-BE49-F238E27FC236}">
                <a16:creationId xmlns:a16="http://schemas.microsoft.com/office/drawing/2014/main" id="{2D8CAC43-6F4D-6269-218F-CC5D3CDEFD8B}"/>
              </a:ext>
            </a:extLst>
          </p:cNvPr>
          <p:cNvSpPr txBox="1"/>
          <p:nvPr/>
        </p:nvSpPr>
        <p:spPr>
          <a:xfrm>
            <a:off x="6093192" y="5123450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Professional A</a:t>
            </a:r>
          </a:p>
        </p:txBody>
      </p:sp>
      <p:sp>
        <p:nvSpPr>
          <p:cNvPr id="145" name="TextBox 46">
            <a:extLst>
              <a:ext uri="{FF2B5EF4-FFF2-40B4-BE49-F238E27FC236}">
                <a16:creationId xmlns:a16="http://schemas.microsoft.com/office/drawing/2014/main" id="{1778AB39-BFCC-4692-5B8C-CB33ADCDB1C4}"/>
              </a:ext>
            </a:extLst>
          </p:cNvPr>
          <p:cNvSpPr txBox="1"/>
          <p:nvPr/>
        </p:nvSpPr>
        <p:spPr>
          <a:xfrm>
            <a:off x="6093192" y="5297186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5411 Legal · 5415 Computer Systems</a:t>
            </a:r>
          </a:p>
        </p:txBody>
      </p:sp>
      <p:sp>
        <p:nvSpPr>
          <p:cNvPr id="146" name="TextBox 47">
            <a:extLst>
              <a:ext uri="{FF2B5EF4-FFF2-40B4-BE49-F238E27FC236}">
                <a16:creationId xmlns:a16="http://schemas.microsoft.com/office/drawing/2014/main" id="{D4AA66AD-3707-C302-30C6-8DAB97B725F1}"/>
              </a:ext>
            </a:extLst>
          </p:cNvPr>
          <p:cNvSpPr txBox="1"/>
          <p:nvPr/>
        </p:nvSpPr>
        <p:spPr>
          <a:xfrm>
            <a:off x="6093192" y="5608082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Professional B</a:t>
            </a:r>
          </a:p>
        </p:txBody>
      </p:sp>
      <p:sp>
        <p:nvSpPr>
          <p:cNvPr id="147" name="TextBox 48">
            <a:extLst>
              <a:ext uri="{FF2B5EF4-FFF2-40B4-BE49-F238E27FC236}">
                <a16:creationId xmlns:a16="http://schemas.microsoft.com/office/drawing/2014/main" id="{7CDEC1D4-EC5F-1510-A37C-4287264C650F}"/>
              </a:ext>
            </a:extLst>
          </p:cNvPr>
          <p:cNvSpPr txBox="1"/>
          <p:nvPr/>
        </p:nvSpPr>
        <p:spPr>
          <a:xfrm>
            <a:off x="6093192" y="5781818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5412–14, 5416–19 Other Professional/Scientific/Technical</a:t>
            </a:r>
          </a:p>
        </p:txBody>
      </p:sp>
      <p:sp>
        <p:nvSpPr>
          <p:cNvPr id="148" name="TextBox 49">
            <a:extLst>
              <a:ext uri="{FF2B5EF4-FFF2-40B4-BE49-F238E27FC236}">
                <a16:creationId xmlns:a16="http://schemas.microsoft.com/office/drawing/2014/main" id="{DA211594-7065-7C0B-13DF-11559B761644}"/>
              </a:ext>
            </a:extLst>
          </p:cNvPr>
          <p:cNvSpPr txBox="1"/>
          <p:nvPr/>
        </p:nvSpPr>
        <p:spPr>
          <a:xfrm>
            <a:off x="6093192" y="6092714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Management / Admin</a:t>
            </a:r>
          </a:p>
        </p:txBody>
      </p:sp>
      <p:sp>
        <p:nvSpPr>
          <p:cNvPr id="149" name="TextBox 50">
            <a:extLst>
              <a:ext uri="{FF2B5EF4-FFF2-40B4-BE49-F238E27FC236}">
                <a16:creationId xmlns:a16="http://schemas.microsoft.com/office/drawing/2014/main" id="{1FB7DF90-962A-5CA1-0C93-7E7C2B277832}"/>
              </a:ext>
            </a:extLst>
          </p:cNvPr>
          <p:cNvSpPr txBox="1"/>
          <p:nvPr/>
        </p:nvSpPr>
        <p:spPr>
          <a:xfrm>
            <a:off x="6093192" y="6266450"/>
            <a:ext cx="2542032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55 Management · 561 Admin/Support · 562 Waste/Remediation</a:t>
            </a:r>
          </a:p>
        </p:txBody>
      </p:sp>
      <p:sp>
        <p:nvSpPr>
          <p:cNvPr id="150" name="TextBox 51">
            <a:extLst>
              <a:ext uri="{FF2B5EF4-FFF2-40B4-BE49-F238E27FC236}">
                <a16:creationId xmlns:a16="http://schemas.microsoft.com/office/drawing/2014/main" id="{B805897D-5208-2B6B-37FA-096EA35CA4A8}"/>
              </a:ext>
            </a:extLst>
          </p:cNvPr>
          <p:cNvSpPr txBox="1"/>
          <p:nvPr/>
        </p:nvSpPr>
        <p:spPr>
          <a:xfrm>
            <a:off x="8909544" y="4090178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Education / Health</a:t>
            </a:r>
          </a:p>
        </p:txBody>
      </p:sp>
      <p:sp>
        <p:nvSpPr>
          <p:cNvPr id="151" name="TextBox 52">
            <a:extLst>
              <a:ext uri="{FF2B5EF4-FFF2-40B4-BE49-F238E27FC236}">
                <a16:creationId xmlns:a16="http://schemas.microsoft.com/office/drawing/2014/main" id="{84665A80-3CD8-9555-A717-E1F33F4F6108}"/>
              </a:ext>
            </a:extLst>
          </p:cNvPr>
          <p:cNvSpPr txBox="1"/>
          <p:nvPr/>
        </p:nvSpPr>
        <p:spPr>
          <a:xfrm>
            <a:off x="8909544" y="4263914"/>
            <a:ext cx="2542032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61 Education · 621 Ambulatory · 622–623 Hospitals/Residential Care · 624 Social Assistance</a:t>
            </a:r>
          </a:p>
        </p:txBody>
      </p:sp>
      <p:sp>
        <p:nvSpPr>
          <p:cNvPr id="152" name="TextBox 53">
            <a:extLst>
              <a:ext uri="{FF2B5EF4-FFF2-40B4-BE49-F238E27FC236}">
                <a16:creationId xmlns:a16="http://schemas.microsoft.com/office/drawing/2014/main" id="{F56AFDCF-CC7D-FD6B-69F3-F2C639DF2E2E}"/>
              </a:ext>
            </a:extLst>
          </p:cNvPr>
          <p:cNvSpPr txBox="1"/>
          <p:nvPr/>
        </p:nvSpPr>
        <p:spPr>
          <a:xfrm>
            <a:off x="8909544" y="4638818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Arts / Recreation</a:t>
            </a:r>
          </a:p>
        </p:txBody>
      </p:sp>
      <p:sp>
        <p:nvSpPr>
          <p:cNvPr id="153" name="TextBox 54">
            <a:extLst>
              <a:ext uri="{FF2B5EF4-FFF2-40B4-BE49-F238E27FC236}">
                <a16:creationId xmlns:a16="http://schemas.microsoft.com/office/drawing/2014/main" id="{ACD9F871-2886-256E-F5B5-B69679938262}"/>
              </a:ext>
            </a:extLst>
          </p:cNvPr>
          <p:cNvSpPr txBox="1"/>
          <p:nvPr/>
        </p:nvSpPr>
        <p:spPr>
          <a:xfrm>
            <a:off x="8909544" y="4812554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711–712 Arts/Sports/Museums · 713 Amusement/Recreation</a:t>
            </a:r>
          </a:p>
        </p:txBody>
      </p:sp>
      <p:sp>
        <p:nvSpPr>
          <p:cNvPr id="154" name="TextBox 55">
            <a:extLst>
              <a:ext uri="{FF2B5EF4-FFF2-40B4-BE49-F238E27FC236}">
                <a16:creationId xmlns:a16="http://schemas.microsoft.com/office/drawing/2014/main" id="{AB07A497-145D-8CCA-2C98-1289585B8208}"/>
              </a:ext>
            </a:extLst>
          </p:cNvPr>
          <p:cNvSpPr txBox="1"/>
          <p:nvPr/>
        </p:nvSpPr>
        <p:spPr>
          <a:xfrm>
            <a:off x="8909544" y="5123450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Accommodation / Food</a:t>
            </a:r>
          </a:p>
        </p:txBody>
      </p:sp>
      <p:sp>
        <p:nvSpPr>
          <p:cNvPr id="155" name="TextBox 56">
            <a:extLst>
              <a:ext uri="{FF2B5EF4-FFF2-40B4-BE49-F238E27FC236}">
                <a16:creationId xmlns:a16="http://schemas.microsoft.com/office/drawing/2014/main" id="{8F9874DA-F6A2-5833-01F1-BEC4F3BE575D}"/>
              </a:ext>
            </a:extLst>
          </p:cNvPr>
          <p:cNvSpPr txBox="1"/>
          <p:nvPr/>
        </p:nvSpPr>
        <p:spPr>
          <a:xfrm>
            <a:off x="8909544" y="5297186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721 Accommodation · 722 Food Services</a:t>
            </a:r>
          </a:p>
        </p:txBody>
      </p:sp>
      <p:sp>
        <p:nvSpPr>
          <p:cNvPr id="156" name="TextBox 57">
            <a:extLst>
              <a:ext uri="{FF2B5EF4-FFF2-40B4-BE49-F238E27FC236}">
                <a16:creationId xmlns:a16="http://schemas.microsoft.com/office/drawing/2014/main" id="{7A31B2D6-1349-E73B-7A04-718D937A8037}"/>
              </a:ext>
            </a:extLst>
          </p:cNvPr>
          <p:cNvSpPr txBox="1"/>
          <p:nvPr/>
        </p:nvSpPr>
        <p:spPr>
          <a:xfrm>
            <a:off x="8909544" y="5608082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489D8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Other Services</a:t>
            </a:r>
          </a:p>
        </p:txBody>
      </p:sp>
      <p:sp>
        <p:nvSpPr>
          <p:cNvPr id="157" name="TextBox 58">
            <a:extLst>
              <a:ext uri="{FF2B5EF4-FFF2-40B4-BE49-F238E27FC236}">
                <a16:creationId xmlns:a16="http://schemas.microsoft.com/office/drawing/2014/main" id="{0A05BD6D-D39B-5F6E-9F57-A399A4513DB7}"/>
              </a:ext>
            </a:extLst>
          </p:cNvPr>
          <p:cNvSpPr txBox="1"/>
          <p:nvPr/>
        </p:nvSpPr>
        <p:spPr>
          <a:xfrm>
            <a:off x="8909544" y="5781818"/>
            <a:ext cx="2542032" cy="108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81 Other Services except Government</a:t>
            </a:r>
          </a:p>
        </p:txBody>
      </p:sp>
      <p:sp>
        <p:nvSpPr>
          <p:cNvPr id="158" name="TextBox 59">
            <a:extLst>
              <a:ext uri="{FF2B5EF4-FFF2-40B4-BE49-F238E27FC236}">
                <a16:creationId xmlns:a16="http://schemas.microsoft.com/office/drawing/2014/main" id="{033363B0-018C-8B88-0F6A-D87177AA601B}"/>
              </a:ext>
            </a:extLst>
          </p:cNvPr>
          <p:cNvSpPr txBox="1"/>
          <p:nvPr/>
        </p:nvSpPr>
        <p:spPr>
          <a:xfrm>
            <a:off x="8909544" y="6092714"/>
            <a:ext cx="2542032" cy="13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1">
                <a:solidFill>
                  <a:srgbClr val="C57734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Exclusion</a:t>
            </a:r>
          </a:p>
        </p:txBody>
      </p:sp>
      <p:sp>
        <p:nvSpPr>
          <p:cNvPr id="159" name="TextBox 60">
            <a:extLst>
              <a:ext uri="{FF2B5EF4-FFF2-40B4-BE49-F238E27FC236}">
                <a16:creationId xmlns:a16="http://schemas.microsoft.com/office/drawing/2014/main" id="{0EC95D80-3AC5-1A22-D666-B0CFFCDDF59C}"/>
              </a:ext>
            </a:extLst>
          </p:cNvPr>
          <p:cNvSpPr txBox="1"/>
          <p:nvPr/>
        </p:nvSpPr>
        <p:spPr>
          <a:xfrm>
            <a:off x="8909544" y="6266450"/>
            <a:ext cx="2542032" cy="325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5" b="0">
                <a:solidFill>
                  <a:srgbClr val="2A2E3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Agriculture: common nonfarm monthly reconstruction 불일치
Government: profitability 기반 construct 부적합
Information: revision 일관성 위해 51로 통합</a:t>
            </a:r>
          </a:p>
        </p:txBody>
      </p:sp>
    </p:spTree>
    <p:extLst>
      <p:ext uri="{BB962C8B-B14F-4D97-AF65-F5344CB8AC3E}">
        <p14:creationId xmlns:p14="http://schemas.microsoft.com/office/powerpoint/2010/main" val="194871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7725-688B-7381-6AA1-848B3D8C4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F0941B-FD7D-3A31-5CB7-8B6A06CFF0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7</a:t>
            </a:fld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C36AC9-4A99-479F-AA0D-8712019E8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23" y="1250830"/>
            <a:ext cx="11673355" cy="5407665"/>
          </a:xfrm>
        </p:spPr>
        <p:txBody>
          <a:bodyPr/>
          <a:lstStyle/>
          <a:p>
            <a:pPr marL="573088" lvl="2" indent="0">
              <a:buNone/>
            </a:pPr>
            <a:endParaRPr lang="en-US" altLang="ko-KR"/>
          </a:p>
          <a:p>
            <a:pPr marL="573088" lvl="2" indent="0">
              <a:buNone/>
            </a:pP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marL="573088" lvl="2" indent="0">
              <a:buNone/>
            </a:pPr>
            <a:endParaRPr lang="en-US" altLang="ko-KR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1D5E96F-F826-C98F-25A1-A26115CC7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44813" cy="12118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1A0A39A-F11E-1D25-3FB4-4B8CD046D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87956187-B87D-F7A0-5BBD-BDA629F90B84}"/>
                  </a:ext>
                </a:extLst>
              </p14:cNvPr>
              <p14:cNvContentPartPr/>
              <p14:nvPr/>
            </p14:nvContentPartPr>
            <p14:xfrm>
              <a:off x="11958615" y="6657758"/>
              <a:ext cx="360" cy="3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87956187-B87D-F7A0-5BBD-BDA629F90B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95615" y="659511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0E04A15-9105-FC81-7C3D-39C4022997A9}"/>
              </a:ext>
            </a:extLst>
          </p:cNvPr>
          <p:cNvSpPr txBox="1"/>
          <p:nvPr/>
        </p:nvSpPr>
        <p:spPr>
          <a:xfrm>
            <a:off x="11890334" y="6569626"/>
            <a:ext cx="290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7</a:t>
            </a:r>
            <a:endParaRPr lang="ko-KR" altLang="en-US" sz="1200" b="1"/>
          </a:p>
        </p:txBody>
      </p:sp>
    </p:spTree>
    <p:extLst>
      <p:ext uri="{BB962C8B-B14F-4D97-AF65-F5344CB8AC3E}">
        <p14:creationId xmlns:p14="http://schemas.microsoft.com/office/powerpoint/2010/main" val="205065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CF42-1663-5B8A-C2D2-430D4A72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916D36-44E6-7C34-8DC5-1D2C70E8AF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8</a:t>
            </a:fld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CCB2C8-EB63-34E4-FEFF-F327B727B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23" y="1250830"/>
            <a:ext cx="11673355" cy="5407665"/>
          </a:xfrm>
        </p:spPr>
        <p:txBody>
          <a:bodyPr/>
          <a:lstStyle/>
          <a:p>
            <a:pPr marL="573088" lvl="2" indent="0">
              <a:buNone/>
            </a:pPr>
            <a:endParaRPr lang="en-US" altLang="ko-KR"/>
          </a:p>
          <a:p>
            <a:pPr marL="573088" lvl="2" indent="0">
              <a:buNone/>
            </a:pP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marL="573088" lvl="2" indent="0">
              <a:buNone/>
            </a:pPr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2C5108-8EAC-8FA0-502B-69E124477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0B78EA05-9B25-0E5D-2F44-82277F205401}"/>
                  </a:ext>
                </a:extLst>
              </p14:cNvPr>
              <p14:cNvContentPartPr/>
              <p14:nvPr/>
            </p14:nvContentPartPr>
            <p14:xfrm>
              <a:off x="12053655" y="6695918"/>
              <a:ext cx="360" cy="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0B78EA05-9B25-0E5D-2F44-82277F2054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91015" y="663291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47467EA-E0AC-0675-0C46-8574BD9D90BE}"/>
              </a:ext>
            </a:extLst>
          </p:cNvPr>
          <p:cNvSpPr txBox="1"/>
          <p:nvPr/>
        </p:nvSpPr>
        <p:spPr>
          <a:xfrm>
            <a:off x="11947927" y="6581001"/>
            <a:ext cx="290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8</a:t>
            </a:r>
            <a:endParaRPr lang="ko-KR" altLang="en-US" sz="1200" b="1"/>
          </a:p>
        </p:txBody>
      </p:sp>
    </p:spTree>
    <p:extLst>
      <p:ext uri="{BB962C8B-B14F-4D97-AF65-F5344CB8AC3E}">
        <p14:creationId xmlns:p14="http://schemas.microsoft.com/office/powerpoint/2010/main" val="106650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E91B-5070-43AE-9224-4919BC9DD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7D8836A1-0B99-923E-DAF2-269E6F488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985" y="3137757"/>
            <a:ext cx="7128541" cy="3214849"/>
          </a:xfrm>
          <a:prstGeom prst="rect">
            <a:avLst/>
          </a:prstGeom>
        </p:spPr>
      </p:pic>
      <p:sp>
        <p:nvSpPr>
          <p:cNvPr id="12" name="제목 11">
            <a:extLst>
              <a:ext uri="{FF2B5EF4-FFF2-40B4-BE49-F238E27FC236}">
                <a16:creationId xmlns:a16="http://schemas.microsoft.com/office/drawing/2014/main" id="{C0E00009-147D-4F3B-59C8-13440E8E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23" y="471895"/>
            <a:ext cx="11673355" cy="613858"/>
          </a:xfrm>
        </p:spPr>
        <p:txBody>
          <a:bodyPr/>
          <a:lstStyle/>
          <a:p>
            <a:r>
              <a:rPr lang="en-US" altLang="ko-KR"/>
              <a:t>Dataset Construction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D359D-DAA8-BE62-AE01-9CC46EDFD5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8016" y="6451893"/>
            <a:ext cx="399823" cy="336000"/>
          </a:xfrm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9</a:t>
            </a:fld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75E9B0-8708-40F1-9C38-A4DFBC4C7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23" y="1250830"/>
            <a:ext cx="11673355" cy="5407665"/>
          </a:xfrm>
        </p:spPr>
        <p:txBody>
          <a:bodyPr/>
          <a:lstStyle/>
          <a:p>
            <a:pPr marL="573088" lvl="2" indent="0">
              <a:buNone/>
            </a:pPr>
            <a:endParaRPr lang="en-US" altLang="ko-KR"/>
          </a:p>
          <a:p>
            <a:pPr marL="573088" lvl="2" indent="0">
              <a:buNone/>
            </a:pP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marL="573088" lvl="2" indent="0">
              <a:buNone/>
            </a:pP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marL="573088" lvl="2" indent="0">
              <a:buNone/>
            </a:pPr>
            <a:endParaRPr lang="en-US" altLang="ko-KR"/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EC163E7A-F89A-3AD8-1A9E-E89319DDBD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1927" y="251701"/>
            <a:ext cx="1566104" cy="235124"/>
          </a:xfrm>
        </p:spPr>
        <p:txBody>
          <a:bodyPr/>
          <a:lstStyle/>
          <a:p>
            <a:r>
              <a:rPr lang="en-US" altLang="ko-KR"/>
              <a:t>2026.09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071BA53-F422-1207-9BF6-14A01783B1AA}"/>
              </a:ext>
            </a:extLst>
          </p:cNvPr>
          <p:cNvSpPr txBox="1">
            <a:spLocks/>
          </p:cNvSpPr>
          <p:nvPr/>
        </p:nvSpPr>
        <p:spPr>
          <a:xfrm>
            <a:off x="259322" y="1064991"/>
            <a:ext cx="11673355" cy="5407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l"/>
              <a:defRPr sz="1600" b="1" kern="1200">
                <a:solidFill>
                  <a:srgbClr val="37354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  <a:lvl2pPr marL="534988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2pPr>
            <a:lvl3pPr marL="801688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3pPr>
            <a:lvl4pPr marL="1076325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100" kern="1200" dirty="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Han Mono" panose="020B0500000000000000" pitchFamily="34" charset="-127"/>
                <a:ea typeface="Source Han Mono" panose="020B05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/>
              <a:t>Productivity</a:t>
            </a:r>
            <a:r>
              <a:rPr lang="en-US" altLang="ko-KR"/>
              <a:t> </a:t>
            </a:r>
            <a:r>
              <a:rPr lang="ko-KR" altLang="en-US"/>
              <a:t>보정</a:t>
            </a:r>
            <a:endParaRPr lang="en-US" altLang="ko-KR"/>
          </a:p>
          <a:p>
            <a:pPr lvl="1"/>
            <a:r>
              <a:rPr lang="ko-KR" altLang="ko-KR"/>
              <a:t>일부 산업의 비정상적으로 낮은 고용 집계로 Productivity 최대값이 과도하게 커지면서 다수 산업의 정규화 점수가 하단에 압축되는 현상이 확인</a:t>
            </a:r>
            <a:endParaRPr lang="en-US" altLang="ko-KR"/>
          </a:p>
          <a:p>
            <a:pPr lvl="1"/>
            <a:r>
              <a:rPr lang="ko-KR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BLS QCEW의 구조적 고용 누락·분류 변경이 확인된 Rail Transportation과 Funds/Trusts에 한해 공식 BLS CES 고용계열로 보정</a:t>
            </a:r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1"/>
            <a:r>
              <a:rPr lang="ko-KR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Productivity 산식과 ICI의 원래 min–max 정규화는 그대로 유지하여 원 방법론과의 일관성을 보존</a:t>
            </a:r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1"/>
            <a:r>
              <a:rPr lang="ko-KR" altLang="ko-KR"/>
              <a:t>교정 후 Productivity는 낮은 수준에 분포하지만, Train 기준 표준편차(15.4)와 5–95% 범위(36.6)가 </a:t>
            </a:r>
            <a:endParaRPr lang="en-US" altLang="ko-KR"/>
          </a:p>
          <a:p>
            <a:pPr marL="306388" lvl="1" indent="0">
              <a:buNone/>
            </a:pPr>
            <a:r>
              <a:rPr lang="en-US" altLang="ko-KR"/>
              <a:t>      </a:t>
            </a:r>
            <a:r>
              <a:rPr lang="ko-KR" altLang="ko-KR"/>
              <a:t>Profitability(10.3, 32.5) 및 Growth(5.7, 16.5)보다 작지 않아 정보 압축 문제는 해소된 것으로 확인</a:t>
            </a:r>
            <a:endParaRPr lang="en-US" altLang="ko-KR"/>
          </a:p>
          <a:p>
            <a:r>
              <a:rPr lang="en-US" altLang="ko-KR"/>
              <a:t>Target</a:t>
            </a:r>
            <a:r>
              <a:rPr lang="ko-KR" altLang="en-US"/>
              <a:t> 분포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2B36D79-32B5-CB05-3111-610E0E552C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7" y="3137757"/>
            <a:ext cx="5456655" cy="324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0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B104FF85-7AAE-75B2-D900-A6C72E25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Dataset Construction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CFAEC9-76DA-BAE5-BB81-3FAF5EAAE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572" y="1044228"/>
            <a:ext cx="11673355" cy="5407665"/>
          </a:xfrm>
        </p:spPr>
        <p:txBody>
          <a:bodyPr/>
          <a:lstStyle/>
          <a:p>
            <a:r>
              <a:rPr lang="en-US" altLang="ko-KR"/>
              <a:t>Feature </a:t>
            </a:r>
            <a:r>
              <a:rPr lang="ko-KR" altLang="en-US"/>
              <a:t>선정 원칙</a:t>
            </a:r>
            <a:endParaRPr lang="en-US" altLang="ko-KR"/>
          </a:p>
          <a:p>
            <a:pPr lvl="1"/>
            <a:r>
              <a:rPr lang="ko-KR" altLang="ko-KR"/>
              <a:t>Target은 산업 간 비교가 가능하도록 동일한 ICI 정의와 공식 통계를 기반으로 엄밀하게 구성한다. </a:t>
            </a:r>
            <a:endParaRPr lang="en-US" altLang="ko-KR"/>
          </a:p>
          <a:p>
            <a:pPr lvl="1"/>
            <a:r>
              <a:rPr lang="ko-KR" altLang="ko-KR"/>
              <a:t>반면 Feature는 미래 경쟁력 변화를 예측하기 위한 정보이므로, 공식성 자체를 필수조건으로 두지 않고</a:t>
            </a:r>
            <a:r>
              <a:rPr lang="en-US" altLang="ko-KR"/>
              <a:t>,</a:t>
            </a:r>
          </a:p>
          <a:p>
            <a:pPr marL="306388" lvl="1" indent="0">
              <a:buNone/>
            </a:pPr>
            <a:r>
              <a:rPr lang="en-US" altLang="ko-KR"/>
              <a:t>     </a:t>
            </a:r>
            <a:r>
              <a:rPr lang="ko-KR" altLang="ko-KR"/>
              <a:t> 경제적 타당성·시점 정합성·재현성·예측정보를 중심으로 폭넓게 후보를 구성한다.</a:t>
            </a:r>
            <a:endParaRPr lang="en-US" altLang="ko-KR"/>
          </a:p>
          <a:p>
            <a:r>
              <a:rPr lang="en-US" altLang="ko-KR"/>
              <a:t>Feature </a:t>
            </a:r>
            <a:r>
              <a:rPr lang="ko-KR" altLang="en-US"/>
              <a:t>선정 조건</a:t>
            </a:r>
            <a:endParaRPr lang="en-US" altLang="ko-KR"/>
          </a:p>
          <a:p>
            <a:pPr lvl="2"/>
            <a:r>
              <a:rPr lang="ko-KR" altLang="ko-KR" sz="1300">
                <a:solidFill>
                  <a:srgbClr val="2683C6"/>
                </a:solidFill>
              </a:rPr>
              <a:t>산업의 상태·활동·수요·비용·기대 또는 미래 변화를 나타내는 관측 지표나 합리적인 proxy</a:t>
            </a:r>
            <a:r>
              <a:rPr lang="en-US" altLang="ko-KR" sz="1300">
                <a:solidFill>
                  <a:srgbClr val="2683C6"/>
                </a:solidFill>
              </a:rPr>
              <a:t> </a:t>
            </a:r>
          </a:p>
          <a:p>
            <a:pPr marL="573088" lvl="2" indent="0">
              <a:buNone/>
            </a:pPr>
            <a:r>
              <a:rPr lang="ko-KR" altLang="ko-KR"/>
              <a:t>→</a:t>
            </a:r>
            <a:r>
              <a:rPr lang="en-US" altLang="ko-KR"/>
              <a:t> 	</a:t>
            </a:r>
            <a:r>
              <a:rPr lang="ko-KR" altLang="ko-KR"/>
              <a:t>공식통계를 우선하되, 경제적 의미가 명확하고 반복 수집 가능한 민간·대안 데이터도 허용</a:t>
            </a:r>
            <a:br>
              <a:rPr lang="en-US" altLang="ko-KR" sz="1300"/>
            </a:br>
            <a:r>
              <a:rPr lang="en-US" altLang="ko-KR" sz="800"/>
              <a:t> </a:t>
            </a:r>
            <a:endParaRPr lang="en-US" altLang="ko-KR" sz="1300"/>
          </a:p>
          <a:p>
            <a:pPr lvl="2"/>
            <a:r>
              <a:rPr lang="ko-KR" altLang="ko-KR" sz="1300">
                <a:solidFill>
                  <a:srgbClr val="2683C6"/>
                </a:solidFill>
              </a:rPr>
              <a:t>Forecast 시점에 실제 이용 가능한 시계열 </a:t>
            </a:r>
            <a:endParaRPr lang="en-US" altLang="ko-KR" sz="1300">
              <a:solidFill>
                <a:srgbClr val="2683C6"/>
              </a:solidFill>
            </a:endParaRPr>
          </a:p>
          <a:p>
            <a:pPr marL="573088" lvl="2" indent="0">
              <a:buNone/>
            </a:pPr>
            <a:r>
              <a:rPr lang="ko-KR" altLang="ko-KR"/>
              <a:t>→ </a:t>
            </a:r>
            <a:r>
              <a:rPr lang="en-US" altLang="ko-KR"/>
              <a:t>	</a:t>
            </a:r>
            <a:r>
              <a:rPr lang="ko-KR" altLang="ko-KR"/>
              <a:t>분기·월·주·일 단위 자료 모두 허용하며 최종적으로 분기 단위로 정렬</a:t>
            </a:r>
            <a:br>
              <a:rPr lang="ko-KR" altLang="ko-KR"/>
            </a:br>
            <a:r>
              <a:rPr lang="ko-KR" altLang="ko-KR"/>
              <a:t>→ </a:t>
            </a:r>
            <a:r>
              <a:rPr lang="en-US" altLang="ko-KR"/>
              <a:t>	</a:t>
            </a:r>
            <a:r>
              <a:rPr lang="ko-KR" altLang="ko-KR"/>
              <a:t>예측시점 이후 공개된 정보는 사용하지 않음</a:t>
            </a:r>
            <a:endParaRPr lang="en-US" altLang="ko-KR"/>
          </a:p>
          <a:p>
            <a:pPr marL="573088" lvl="2" indent="0">
              <a:buNone/>
            </a:pPr>
            <a:endParaRPr lang="ko-KR" altLang="ko-KR" sz="800"/>
          </a:p>
          <a:p>
            <a:pPr lvl="2"/>
            <a:r>
              <a:rPr lang="ko-KR" altLang="ko-KR" sz="1300">
                <a:solidFill>
                  <a:srgbClr val="2683C6"/>
                </a:solidFill>
              </a:rPr>
              <a:t>분석기간을 충분히 포괄하고 반복적으로 확보 가능한 시계열</a:t>
            </a:r>
            <a:endParaRPr lang="en-US" altLang="ko-KR" sz="1300">
              <a:solidFill>
                <a:srgbClr val="2683C6"/>
              </a:solidFill>
            </a:endParaRPr>
          </a:p>
          <a:p>
            <a:pPr marL="573088" lvl="2" indent="0">
              <a:buNone/>
            </a:pPr>
            <a:r>
              <a:rPr lang="ko-KR" altLang="en-US"/>
              <a:t>→ </a:t>
            </a:r>
            <a:r>
              <a:rPr lang="en-US" altLang="ko-KR"/>
              <a:t> 	</a:t>
            </a:r>
            <a:r>
              <a:rPr lang="ko-KR" altLang="ko-KR"/>
              <a:t>공식 미발표·수집중단에 따른 구조적 결측은 원인을 명시하고 mask 처리</a:t>
            </a:r>
            <a:r>
              <a:rPr lang="en-US" altLang="ko-KR"/>
              <a:t> </a:t>
            </a:r>
          </a:p>
          <a:p>
            <a:pPr marL="573088" lvl="2" indent="0">
              <a:buNone/>
            </a:pPr>
            <a:r>
              <a:rPr lang="en-US" altLang="ko-KR"/>
              <a:t>      	</a:t>
            </a:r>
            <a:r>
              <a:rPr lang="en-US" altLang="ko-KR" i="1"/>
              <a:t>(ex. 2025.10 </a:t>
            </a:r>
            <a:r>
              <a:rPr lang="ko-KR" altLang="en-US" i="1"/>
              <a:t>미 연방정부 셧다운</a:t>
            </a:r>
            <a:r>
              <a:rPr lang="en-US" altLang="ko-KR" i="1"/>
              <a:t>)</a:t>
            </a:r>
          </a:p>
          <a:p>
            <a:pPr marL="573088" lvl="2" indent="0">
              <a:buNone/>
            </a:pPr>
            <a:r>
              <a:rPr lang="ko-KR" altLang="ko-KR"/>
              <a:t>→ </a:t>
            </a:r>
            <a:r>
              <a:rPr lang="en-US" altLang="ko-KR"/>
              <a:t>	</a:t>
            </a:r>
            <a:r>
              <a:rPr lang="ko-KR" altLang="ko-KR"/>
              <a:t>특정 Feature를 살리기 위해 분석기간을 사후적으로 변경하지 않음</a:t>
            </a:r>
            <a:br>
              <a:rPr lang="en-US" altLang="ko-KR"/>
            </a:br>
            <a:endParaRPr lang="en-US" altLang="ko-KR"/>
          </a:p>
          <a:p>
            <a:pPr lvl="2"/>
            <a:r>
              <a:rPr lang="ko-KR" altLang="ko-KR" sz="1300">
                <a:solidFill>
                  <a:srgbClr val="2683C6"/>
                </a:solidFill>
              </a:rPr>
              <a:t>동일한 Feature는 산업 간 동일한 경제적 의미를 가져야 함 </a:t>
            </a:r>
            <a:endParaRPr lang="en-US" altLang="ko-KR" sz="1300">
              <a:solidFill>
                <a:srgbClr val="2683C6"/>
              </a:solidFill>
            </a:endParaRPr>
          </a:p>
          <a:p>
            <a:pPr marL="573088" lvl="2" indent="0">
              <a:buNone/>
            </a:pPr>
            <a:r>
              <a:rPr lang="ko-KR" altLang="en-US"/>
              <a:t>→</a:t>
            </a:r>
            <a:r>
              <a:rPr lang="en-US" altLang="ko-KR"/>
              <a:t> 	</a:t>
            </a:r>
            <a:r>
              <a:rPr lang="ko-KR" altLang="ko-KR"/>
              <a:t>단위·세부 산식 차이는 허용하되 서로 다른 개념을 하나의 Feature로 혼합하지 않음</a:t>
            </a:r>
            <a:endParaRPr lang="en-US" altLang="ko-KR"/>
          </a:p>
          <a:p>
            <a:pPr marL="573088" lvl="2" indent="0">
              <a:buNone/>
            </a:pPr>
            <a:endParaRPr lang="en-US" altLang="ko-KR" sz="800"/>
          </a:p>
          <a:p>
            <a:pPr lvl="2"/>
            <a:r>
              <a:rPr lang="ko-KR" altLang="ko-KR" sz="1300">
                <a:solidFill>
                  <a:srgbClr val="2683C6"/>
                </a:solidFill>
              </a:rPr>
              <a:t>Target leakage 및 기계적 중복이 없어야 함 </a:t>
            </a:r>
            <a:endParaRPr lang="en-US" altLang="ko-KR" sz="1300">
              <a:solidFill>
                <a:srgbClr val="2683C6"/>
              </a:solidFill>
            </a:endParaRPr>
          </a:p>
          <a:p>
            <a:pPr marL="573088" lvl="2" indent="0">
              <a:buNone/>
            </a:pPr>
            <a:r>
              <a:rPr lang="ko-KR" altLang="ko-KR"/>
              <a:t>→ </a:t>
            </a:r>
            <a:r>
              <a:rPr lang="en-US" altLang="ko-KR"/>
              <a:t>	</a:t>
            </a:r>
            <a:r>
              <a:rPr lang="ko-KR" altLang="ko-KR"/>
              <a:t>ICI 및 3개 구성요소를 사실상 재구성하는 동시점 정보는 제외</a:t>
            </a:r>
            <a:br>
              <a:rPr lang="ko-KR" altLang="ko-KR"/>
            </a:br>
            <a:r>
              <a:rPr lang="ko-KR" altLang="ko-KR"/>
              <a:t>→ </a:t>
            </a:r>
            <a:r>
              <a:rPr lang="en-US" altLang="ko-KR"/>
              <a:t>	</a:t>
            </a:r>
            <a:r>
              <a:rPr lang="ko-KR" altLang="ko-KR"/>
              <a:t>Feature selection과 scaling은 training data에서만 수행</a:t>
            </a:r>
            <a:endParaRPr lang="en-US" altLang="ko-KR"/>
          </a:p>
          <a:p>
            <a:pPr marL="573088" lvl="2" indent="0">
              <a:buNone/>
            </a:pPr>
            <a:endParaRPr lang="en-US" altLang="ko-KR" sz="130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FA4EE45F-8F7E-8214-1BB7-9B801AF0A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2026.09</a:t>
            </a: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FEBF540B-0887-9044-6892-629AB3914A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34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507EB96F-8984-44FE-0095-67403072D9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2026.09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691457-D82F-A18E-F4A1-BD924F2063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6FE2D86-7836-9FBD-18D4-9A9E9825C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3645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700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청록색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3245</TotalTime>
  <Words>1565</Words>
  <Application>Microsoft Office PowerPoint</Application>
  <PresentationFormat>와이드스크린</PresentationFormat>
  <Paragraphs>256</Paragraphs>
  <Slides>11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Noto Sans CJK KR</vt:lpstr>
      <vt:lpstr>Noto Sans KR</vt:lpstr>
      <vt:lpstr>Source Han Mono</vt:lpstr>
      <vt:lpstr>맑은 고딕</vt:lpstr>
      <vt:lpstr>Arial</vt:lpstr>
      <vt:lpstr>Cambria Math</vt:lpstr>
      <vt:lpstr>Lato</vt:lpstr>
      <vt:lpstr>Times New Roman</vt:lpstr>
      <vt:lpstr>Wingdings</vt:lpstr>
      <vt:lpstr>1_Office 테마</vt:lpstr>
      <vt:lpstr>PRISM: Predictive Reasoning for Industrial Structure Mapping with Graph Learning and Multi-agent Interpretation</vt:lpstr>
      <vt:lpstr>PRISM을 통해 무엇을 분석하는가</vt:lpstr>
      <vt:lpstr>Dataset Construction</vt:lpstr>
      <vt:lpstr>Dataset Construction</vt:lpstr>
      <vt:lpstr>Dataset Construction</vt:lpstr>
      <vt:lpstr>Dataset Construction</vt:lpstr>
      <vt:lpstr>PowerPoint 프레젠테이션</vt:lpstr>
      <vt:lpstr>PowerPoint 프레젠테이션</vt:lpstr>
      <vt:lpstr>Dataset Construction</vt:lpstr>
      <vt:lpstr>Dataset Construction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Pattern-based Neural CF</dc:title>
  <dc:creator>Jung Haemin</dc:creator>
  <cp:lastModifiedBy>하승 류</cp:lastModifiedBy>
  <cp:revision>96</cp:revision>
  <dcterms:created xsi:type="dcterms:W3CDTF">2021-11-05T11:56:40Z</dcterms:created>
  <dcterms:modified xsi:type="dcterms:W3CDTF">2026-10-12T05:22:46Z</dcterms:modified>
</cp:coreProperties>
</file>